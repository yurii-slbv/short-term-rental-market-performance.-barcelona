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Inter"/>
      <p:regular r:id="rId19"/>
      <p:bold r:id="rId20"/>
      <p:italic r:id="rId21"/>
      <p:boldItalic r:id="rId22"/>
    </p:embeddedFont>
    <p:embeddedFont>
      <p:font typeface="Space Grotesk"/>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11" Type="http://schemas.openxmlformats.org/officeDocument/2006/relationships/slide" Target="slides/slide6.xml"/><Relationship Id="rId22" Type="http://schemas.openxmlformats.org/officeDocument/2006/relationships/font" Target="fonts/Inter-boldItalic.fntdata"/><Relationship Id="rId10" Type="http://schemas.openxmlformats.org/officeDocument/2006/relationships/slide" Target="slides/slide5.xml"/><Relationship Id="rId21" Type="http://schemas.openxmlformats.org/officeDocument/2006/relationships/font" Target="fonts/Inter-italic.fntdata"/><Relationship Id="rId13" Type="http://schemas.openxmlformats.org/officeDocument/2006/relationships/slide" Target="slides/slide8.xml"/><Relationship Id="rId24" Type="http://schemas.openxmlformats.org/officeDocument/2006/relationships/font" Target="fonts/SpaceGrotesk-bold.fntdata"/><Relationship Id="rId12" Type="http://schemas.openxmlformats.org/officeDocument/2006/relationships/slide" Target="slides/slide7.xml"/><Relationship Id="rId23" Type="http://schemas.openxmlformats.org/officeDocument/2006/relationships/font" Target="fonts/SpaceGrotesk-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Inter-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h466b66c6b35e6f28_4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h466b66c6b35e6f28_4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h78eea7f272576700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h78eea7f272576700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8.png"/><Relationship Id="rId6" Type="http://schemas.openxmlformats.org/officeDocument/2006/relationships/image" Target="../media/image8.png"/><Relationship Id="rId7" Type="http://schemas.openxmlformats.org/officeDocument/2006/relationships/image" Target="../media/image2.png"/><Relationship Id="rId8"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6.png"/><Relationship Id="rId8"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9.png"/><Relationship Id="rId5" Type="http://schemas.openxmlformats.org/officeDocument/2006/relationships/image" Target="../media/image11.png"/><Relationship Id="rId6" Type="http://schemas.openxmlformats.org/officeDocument/2006/relationships/image" Target="../media/image21.png"/><Relationship Id="rId7"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3"/>
          <p:cNvSpPr/>
          <p:nvPr/>
        </p:nvSpPr>
        <p:spPr>
          <a:xfrm>
            <a:off x="9525" y="9525"/>
            <a:ext cx="7060500" cy="6839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p:nvPr/>
        </p:nvSpPr>
        <p:spPr>
          <a:xfrm>
            <a:off x="542925" y="5619750"/>
            <a:ext cx="5993700" cy="838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p:nvPr/>
        </p:nvSpPr>
        <p:spPr>
          <a:xfrm>
            <a:off x="542925" y="5400675"/>
            <a:ext cx="5993606"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txBox="1"/>
          <p:nvPr/>
        </p:nvSpPr>
        <p:spPr>
          <a:xfrm>
            <a:off x="542925" y="1057275"/>
            <a:ext cx="5300700" cy="1092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3300" u="none" cap="none" strike="noStrike">
                <a:solidFill>
                  <a:srgbClr val="09090B"/>
                </a:solidFill>
                <a:latin typeface="Space Grotesk"/>
                <a:ea typeface="Space Grotesk"/>
                <a:cs typeface="Space Grotesk"/>
                <a:sym typeface="Space Grotesk"/>
              </a:rPr>
              <a:t>Barcelona Short-Term Rental Performance</a:t>
            </a:r>
            <a:endParaRPr/>
          </a:p>
        </p:txBody>
      </p:sp>
      <p:sp>
        <p:nvSpPr>
          <p:cNvPr id="88" name="Google Shape;88;p13"/>
          <p:cNvSpPr txBox="1"/>
          <p:nvPr/>
        </p:nvSpPr>
        <p:spPr>
          <a:xfrm>
            <a:off x="695325" y="619125"/>
            <a:ext cx="2914798"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563EB"/>
                </a:solidFill>
                <a:latin typeface="Space Grotesk"/>
                <a:ea typeface="Space Grotesk"/>
                <a:cs typeface="Space Grotesk"/>
                <a:sym typeface="Space Grotesk"/>
              </a:rPr>
              <a:t>DAFT SEP 2026 — TEAM BERLIN</a:t>
            </a:r>
            <a:endParaRPr/>
          </a:p>
        </p:txBody>
      </p:sp>
      <p:sp>
        <p:nvSpPr>
          <p:cNvPr id="89" name="Google Shape;89;p13"/>
          <p:cNvSpPr txBox="1"/>
          <p:nvPr/>
        </p:nvSpPr>
        <p:spPr>
          <a:xfrm>
            <a:off x="542925" y="5638800"/>
            <a:ext cx="3891111"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1717A"/>
                </a:solidFill>
                <a:latin typeface="Inter"/>
                <a:ea typeface="Inter"/>
                <a:cs typeface="Inter"/>
                <a:sym typeface="Inter"/>
              </a:rPr>
              <a:t>PRESENTERS</a:t>
            </a:r>
            <a:endParaRPr/>
          </a:p>
        </p:txBody>
      </p:sp>
      <p:sp>
        <p:nvSpPr>
          <p:cNvPr id="90" name="Google Shape;90;p13"/>
          <p:cNvSpPr txBox="1"/>
          <p:nvPr/>
        </p:nvSpPr>
        <p:spPr>
          <a:xfrm>
            <a:off x="542925" y="5838825"/>
            <a:ext cx="320813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9090B"/>
                </a:solidFill>
                <a:latin typeface="Inter"/>
                <a:ea typeface="Inter"/>
                <a:cs typeface="Inter"/>
                <a:sym typeface="Inter"/>
              </a:rPr>
              <a:t>Jovana Zivkovic &amp; Yurii Slobodchukov</a:t>
            </a:r>
            <a:endParaRPr/>
          </a:p>
        </p:txBody>
      </p:sp>
      <p:pic>
        <p:nvPicPr>
          <p:cNvPr id="91" name="Google Shape;91;p13"/>
          <p:cNvPicPr preferRelativeResize="0"/>
          <p:nvPr/>
        </p:nvPicPr>
        <p:blipFill>
          <a:blip r:embed="rId3">
            <a:alphaModFix/>
          </a:blip>
          <a:stretch>
            <a:fillRect/>
          </a:stretch>
        </p:blipFill>
        <p:spPr>
          <a:xfrm>
            <a:off x="4209600" y="302543"/>
            <a:ext cx="7982400" cy="531720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14"/>
          <p:cNvSpPr/>
          <p:nvPr/>
        </p:nvSpPr>
        <p:spPr>
          <a:xfrm>
            <a:off x="11268075" y="504825"/>
            <a:ext cx="304800" cy="247650"/>
          </a:xfrm>
          <a:prstGeom prst="roundRect">
            <a:avLst>
              <a:gd fmla="val 15384" name="adj"/>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4"/>
          <p:cNvSpPr/>
          <p:nvPr/>
        </p:nvSpPr>
        <p:spPr>
          <a:xfrm>
            <a:off x="619125" y="2302222"/>
            <a:ext cx="5362575" cy="1040010"/>
          </a:xfrm>
          <a:prstGeom prst="roundRect">
            <a:avLst>
              <a:gd fmla="val 7326" name="adj"/>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14"/>
          <p:cNvSpPr/>
          <p:nvPr/>
        </p:nvSpPr>
        <p:spPr>
          <a:xfrm>
            <a:off x="6210300" y="2302222"/>
            <a:ext cx="5362575" cy="1040010"/>
          </a:xfrm>
          <a:prstGeom prst="roundRect">
            <a:avLst>
              <a:gd fmla="val 7326" name="adj"/>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14"/>
          <p:cNvSpPr/>
          <p:nvPr/>
        </p:nvSpPr>
        <p:spPr>
          <a:xfrm>
            <a:off x="619125" y="3570833"/>
            <a:ext cx="5362575" cy="1506735"/>
          </a:xfrm>
          <a:prstGeom prst="roundRect">
            <a:avLst>
              <a:gd fmla="val 5057" name="adj"/>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14"/>
          <p:cNvSpPr/>
          <p:nvPr/>
        </p:nvSpPr>
        <p:spPr>
          <a:xfrm>
            <a:off x="6210300" y="3570833"/>
            <a:ext cx="5362575" cy="1506735"/>
          </a:xfrm>
          <a:prstGeom prst="roundRect">
            <a:avLst>
              <a:gd fmla="val 5057" name="adj"/>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 name="Google Shape;101;p14"/>
          <p:cNvSpPr/>
          <p:nvPr/>
        </p:nvSpPr>
        <p:spPr>
          <a:xfrm>
            <a:off x="619125" y="3332708"/>
            <a:ext cx="5362575" cy="9525"/>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4"/>
          <p:cNvSpPr/>
          <p:nvPr/>
        </p:nvSpPr>
        <p:spPr>
          <a:xfrm>
            <a:off x="619125" y="2302222"/>
            <a:ext cx="5362575" cy="9525"/>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4"/>
          <p:cNvSpPr/>
          <p:nvPr/>
        </p:nvSpPr>
        <p:spPr>
          <a:xfrm>
            <a:off x="619125" y="2302222"/>
            <a:ext cx="38100" cy="104001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14"/>
          <p:cNvSpPr/>
          <p:nvPr/>
        </p:nvSpPr>
        <p:spPr>
          <a:xfrm>
            <a:off x="5972175" y="2302222"/>
            <a:ext cx="9525" cy="1040010"/>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4"/>
          <p:cNvSpPr/>
          <p:nvPr/>
        </p:nvSpPr>
        <p:spPr>
          <a:xfrm>
            <a:off x="6210300" y="3332708"/>
            <a:ext cx="5362575" cy="9525"/>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 name="Google Shape;106;p14"/>
          <p:cNvSpPr/>
          <p:nvPr/>
        </p:nvSpPr>
        <p:spPr>
          <a:xfrm>
            <a:off x="6210300" y="2302222"/>
            <a:ext cx="5362575" cy="9525"/>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14"/>
          <p:cNvSpPr/>
          <p:nvPr/>
        </p:nvSpPr>
        <p:spPr>
          <a:xfrm>
            <a:off x="6210300" y="2302222"/>
            <a:ext cx="38100" cy="104001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14"/>
          <p:cNvSpPr/>
          <p:nvPr/>
        </p:nvSpPr>
        <p:spPr>
          <a:xfrm>
            <a:off x="11563350" y="2302222"/>
            <a:ext cx="9525" cy="1040010"/>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14"/>
          <p:cNvSpPr/>
          <p:nvPr/>
        </p:nvSpPr>
        <p:spPr>
          <a:xfrm>
            <a:off x="619125" y="5068044"/>
            <a:ext cx="5362575" cy="9525"/>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14"/>
          <p:cNvSpPr/>
          <p:nvPr/>
        </p:nvSpPr>
        <p:spPr>
          <a:xfrm>
            <a:off x="619125" y="3570833"/>
            <a:ext cx="5362575" cy="9525"/>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4"/>
          <p:cNvSpPr/>
          <p:nvPr/>
        </p:nvSpPr>
        <p:spPr>
          <a:xfrm>
            <a:off x="619125" y="3570833"/>
            <a:ext cx="38100" cy="150673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4"/>
          <p:cNvSpPr/>
          <p:nvPr/>
        </p:nvSpPr>
        <p:spPr>
          <a:xfrm>
            <a:off x="5972175" y="3570833"/>
            <a:ext cx="9525" cy="1506735"/>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14"/>
          <p:cNvSpPr/>
          <p:nvPr/>
        </p:nvSpPr>
        <p:spPr>
          <a:xfrm>
            <a:off x="885825" y="4487019"/>
            <a:ext cx="4857750" cy="352425"/>
          </a:xfrm>
          <a:prstGeom prst="roundRect">
            <a:avLst>
              <a:gd fmla="val 10810" name="adj"/>
            </a:avLst>
          </a:prstGeom>
          <a:solidFill>
            <a:srgbClr val="EFF6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4"/>
          <p:cNvSpPr/>
          <p:nvPr/>
        </p:nvSpPr>
        <p:spPr>
          <a:xfrm>
            <a:off x="6210300" y="5068044"/>
            <a:ext cx="5362575" cy="9525"/>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4"/>
          <p:cNvSpPr/>
          <p:nvPr/>
        </p:nvSpPr>
        <p:spPr>
          <a:xfrm>
            <a:off x="6210300" y="3570833"/>
            <a:ext cx="5362575" cy="9525"/>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14"/>
          <p:cNvSpPr/>
          <p:nvPr/>
        </p:nvSpPr>
        <p:spPr>
          <a:xfrm>
            <a:off x="6210300" y="3570833"/>
            <a:ext cx="38100" cy="150673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4"/>
          <p:cNvSpPr/>
          <p:nvPr/>
        </p:nvSpPr>
        <p:spPr>
          <a:xfrm>
            <a:off x="11563350" y="3570833"/>
            <a:ext cx="9525" cy="1506735"/>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14"/>
          <p:cNvSpPr txBox="1"/>
          <p:nvPr/>
        </p:nvSpPr>
        <p:spPr>
          <a:xfrm>
            <a:off x="11382375" y="542925"/>
            <a:ext cx="1714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1717A"/>
                </a:solidFill>
                <a:latin typeface="Space Grotesk"/>
                <a:ea typeface="Space Grotesk"/>
                <a:cs typeface="Space Grotesk"/>
                <a:sym typeface="Space Grotesk"/>
              </a:rPr>
              <a:t>2</a:t>
            </a:r>
            <a:endParaRPr/>
          </a:p>
        </p:txBody>
      </p:sp>
      <p:sp>
        <p:nvSpPr>
          <p:cNvPr id="119" name="Google Shape;119;p14"/>
          <p:cNvSpPr txBox="1"/>
          <p:nvPr/>
        </p:nvSpPr>
        <p:spPr>
          <a:xfrm>
            <a:off x="619125" y="723900"/>
            <a:ext cx="3030456" cy="35049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400" u="none" cap="none" strike="noStrike">
                <a:solidFill>
                  <a:srgbClr val="09090B"/>
                </a:solidFill>
                <a:latin typeface="Space Grotesk"/>
                <a:ea typeface="Space Grotesk"/>
                <a:cs typeface="Space Grotesk"/>
                <a:sym typeface="Space Grotesk"/>
              </a:rPr>
              <a:t>Before We Begin</a:t>
            </a:r>
            <a:endParaRPr/>
          </a:p>
        </p:txBody>
      </p:sp>
      <p:sp>
        <p:nvSpPr>
          <p:cNvPr id="120" name="Google Shape;120;p14"/>
          <p:cNvSpPr txBox="1"/>
          <p:nvPr/>
        </p:nvSpPr>
        <p:spPr>
          <a:xfrm>
            <a:off x="885825" y="2540347"/>
            <a:ext cx="6375796"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9090B"/>
                </a:solidFill>
                <a:latin typeface="Space Grotesk"/>
                <a:ea typeface="Space Grotesk"/>
                <a:cs typeface="Space Grotesk"/>
                <a:sym typeface="Space Grotesk"/>
              </a:rPr>
              <a:t>Occupancy</a:t>
            </a:r>
            <a:endParaRPr/>
          </a:p>
        </p:txBody>
      </p:sp>
      <p:sp>
        <p:nvSpPr>
          <p:cNvPr id="121" name="Google Shape;121;p14"/>
          <p:cNvSpPr txBox="1"/>
          <p:nvPr/>
        </p:nvSpPr>
        <p:spPr>
          <a:xfrm>
            <a:off x="885825" y="2864197"/>
            <a:ext cx="60723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1350">
                <a:solidFill>
                  <a:srgbClr val="52525B"/>
                </a:solidFill>
                <a:latin typeface="Inter"/>
                <a:ea typeface="Inter"/>
                <a:cs typeface="Inter"/>
                <a:sym typeface="Inter"/>
              </a:rPr>
              <a:t>% of </a:t>
            </a:r>
            <a:r>
              <a:rPr lang="en-US" sz="1350">
                <a:solidFill>
                  <a:srgbClr val="52525B"/>
                </a:solidFill>
                <a:latin typeface="Inter"/>
                <a:ea typeface="Inter"/>
                <a:cs typeface="Inter"/>
                <a:sym typeface="Inter"/>
              </a:rPr>
              <a:t>available</a:t>
            </a:r>
            <a:r>
              <a:rPr lang="en-US" sz="1350">
                <a:solidFill>
                  <a:srgbClr val="52525B"/>
                </a:solidFill>
                <a:latin typeface="Inter"/>
                <a:ea typeface="Inter"/>
                <a:cs typeface="Inter"/>
                <a:sym typeface="Inter"/>
              </a:rPr>
              <a:t> nights booked</a:t>
            </a:r>
            <a:endParaRPr/>
          </a:p>
        </p:txBody>
      </p:sp>
      <p:sp>
        <p:nvSpPr>
          <p:cNvPr id="122" name="Google Shape;122;p14"/>
          <p:cNvSpPr txBox="1"/>
          <p:nvPr/>
        </p:nvSpPr>
        <p:spPr>
          <a:xfrm>
            <a:off x="6477000" y="2540347"/>
            <a:ext cx="571500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9090B"/>
                </a:solidFill>
                <a:latin typeface="Space Grotesk"/>
                <a:ea typeface="Space Grotesk"/>
                <a:cs typeface="Space Grotesk"/>
                <a:sym typeface="Space Grotesk"/>
              </a:rPr>
              <a:t>ADR (Average Daily Rate)</a:t>
            </a:r>
            <a:endParaRPr/>
          </a:p>
        </p:txBody>
      </p:sp>
      <p:sp>
        <p:nvSpPr>
          <p:cNvPr id="123" name="Google Shape;123;p14"/>
          <p:cNvSpPr txBox="1"/>
          <p:nvPr/>
        </p:nvSpPr>
        <p:spPr>
          <a:xfrm>
            <a:off x="6477000" y="2864197"/>
            <a:ext cx="57150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52525B"/>
                </a:solidFill>
                <a:latin typeface="Inter"/>
                <a:ea typeface="Inter"/>
                <a:cs typeface="Inter"/>
                <a:sym typeface="Inter"/>
              </a:rPr>
              <a:t>Average </a:t>
            </a:r>
            <a:r>
              <a:rPr lang="en-US" sz="1350">
                <a:solidFill>
                  <a:srgbClr val="52525B"/>
                </a:solidFill>
                <a:latin typeface="Inter"/>
                <a:ea typeface="Inter"/>
                <a:cs typeface="Inter"/>
                <a:sym typeface="Inter"/>
              </a:rPr>
              <a:t>price </a:t>
            </a:r>
            <a:r>
              <a:rPr b="0" i="0" lang="en-US" sz="1350" u="none" cap="none" strike="noStrike">
                <a:solidFill>
                  <a:srgbClr val="52525B"/>
                </a:solidFill>
                <a:latin typeface="Inter"/>
                <a:ea typeface="Inter"/>
                <a:cs typeface="Inter"/>
                <a:sym typeface="Inter"/>
              </a:rPr>
              <a:t>per booked night</a:t>
            </a:r>
            <a:endParaRPr/>
          </a:p>
        </p:txBody>
      </p:sp>
      <p:sp>
        <p:nvSpPr>
          <p:cNvPr id="124" name="Google Shape;124;p14"/>
          <p:cNvSpPr txBox="1"/>
          <p:nvPr/>
        </p:nvSpPr>
        <p:spPr>
          <a:xfrm>
            <a:off x="885825" y="3808958"/>
            <a:ext cx="6375796"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9090B"/>
                </a:solidFill>
                <a:latin typeface="Space Grotesk"/>
                <a:ea typeface="Space Grotesk"/>
                <a:cs typeface="Space Grotesk"/>
                <a:sym typeface="Space Grotesk"/>
              </a:rPr>
              <a:t>RevPAR</a:t>
            </a:r>
            <a:endParaRPr/>
          </a:p>
        </p:txBody>
      </p:sp>
      <p:sp>
        <p:nvSpPr>
          <p:cNvPr id="125" name="Google Shape;125;p14"/>
          <p:cNvSpPr txBox="1"/>
          <p:nvPr/>
        </p:nvSpPr>
        <p:spPr>
          <a:xfrm>
            <a:off x="885825" y="4132808"/>
            <a:ext cx="6072187"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52525B"/>
                </a:solidFill>
                <a:latin typeface="Inter"/>
                <a:ea typeface="Inter"/>
                <a:cs typeface="Inter"/>
                <a:sym typeface="Inter"/>
              </a:rPr>
              <a:t>Revenue generated per available night.</a:t>
            </a:r>
            <a:endParaRPr/>
          </a:p>
        </p:txBody>
      </p:sp>
      <p:sp>
        <p:nvSpPr>
          <p:cNvPr id="126" name="Google Shape;126;p14"/>
          <p:cNvSpPr txBox="1"/>
          <p:nvPr/>
        </p:nvSpPr>
        <p:spPr>
          <a:xfrm>
            <a:off x="1000125" y="4563219"/>
            <a:ext cx="472440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2563EB"/>
                </a:solidFill>
                <a:latin typeface="Space Grotesk"/>
                <a:ea typeface="Space Grotesk"/>
                <a:cs typeface="Space Grotesk"/>
                <a:sym typeface="Space Grotesk"/>
              </a:rPr>
              <a:t>RevPAR = ADR × Occupancy Rate</a:t>
            </a:r>
            <a:endParaRPr/>
          </a:p>
        </p:txBody>
      </p:sp>
      <p:sp>
        <p:nvSpPr>
          <p:cNvPr id="127" name="Google Shape;127;p14"/>
          <p:cNvSpPr txBox="1"/>
          <p:nvPr/>
        </p:nvSpPr>
        <p:spPr>
          <a:xfrm>
            <a:off x="6477000" y="3808958"/>
            <a:ext cx="571500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9090B"/>
                </a:solidFill>
                <a:latin typeface="Space Grotesk"/>
                <a:ea typeface="Space Grotesk"/>
                <a:cs typeface="Space Grotesk"/>
                <a:sym typeface="Space Grotesk"/>
              </a:rPr>
              <a:t>Revenue</a:t>
            </a:r>
            <a:endParaRPr/>
          </a:p>
        </p:txBody>
      </p:sp>
      <p:sp>
        <p:nvSpPr>
          <p:cNvPr id="128" name="Google Shape;128;p14"/>
          <p:cNvSpPr txBox="1"/>
          <p:nvPr/>
        </p:nvSpPr>
        <p:spPr>
          <a:xfrm>
            <a:off x="6477000" y="4132808"/>
            <a:ext cx="57150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52525B"/>
                </a:solidFill>
                <a:latin typeface="Inter"/>
                <a:ea typeface="Inter"/>
                <a:cs typeface="Inter"/>
                <a:sym typeface="Inter"/>
              </a:rPr>
              <a:t>Total rental income over a period.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p15"/>
          <p:cNvSpPr/>
          <p:nvPr/>
        </p:nvSpPr>
        <p:spPr>
          <a:xfrm>
            <a:off x="11258550" y="504825"/>
            <a:ext cx="314325" cy="247650"/>
          </a:xfrm>
          <a:prstGeom prst="roundRect">
            <a:avLst>
              <a:gd fmla="val 15384" name="adj"/>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5"/>
          <p:cNvSpPr/>
          <p:nvPr/>
        </p:nvSpPr>
        <p:spPr>
          <a:xfrm>
            <a:off x="619125" y="4087862"/>
            <a:ext cx="10953750" cy="1400175"/>
          </a:xfrm>
          <a:prstGeom prst="rect">
            <a:avLst/>
          </a:prstGeom>
          <a:solidFill>
            <a:srgbClr val="EFF6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5"/>
          <p:cNvSpPr/>
          <p:nvPr/>
        </p:nvSpPr>
        <p:spPr>
          <a:xfrm>
            <a:off x="619125" y="4087862"/>
            <a:ext cx="38100" cy="1400175"/>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5"/>
          <p:cNvSpPr/>
          <p:nvPr/>
        </p:nvSpPr>
        <p:spPr>
          <a:xfrm>
            <a:off x="619125" y="1891750"/>
            <a:ext cx="3524400" cy="1967400"/>
          </a:xfrm>
          <a:prstGeom prst="roundRect">
            <a:avLst>
              <a:gd fmla="val 4410"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5"/>
          <p:cNvSpPr/>
          <p:nvPr/>
        </p:nvSpPr>
        <p:spPr>
          <a:xfrm>
            <a:off x="4333875" y="1891750"/>
            <a:ext cx="3524400" cy="1967400"/>
          </a:xfrm>
          <a:prstGeom prst="roundRect">
            <a:avLst>
              <a:gd fmla="val 3872"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5"/>
          <p:cNvSpPr/>
          <p:nvPr/>
        </p:nvSpPr>
        <p:spPr>
          <a:xfrm>
            <a:off x="8048475" y="1891750"/>
            <a:ext cx="3524400" cy="1967400"/>
          </a:xfrm>
          <a:prstGeom prst="roundRect">
            <a:avLst>
              <a:gd fmla="val 4410"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39" name="Google Shape;139;p15"/>
          <p:cNvPicPr preferRelativeResize="0"/>
          <p:nvPr/>
        </p:nvPicPr>
        <p:blipFill rotWithShape="1">
          <a:blip r:embed="rId3">
            <a:alphaModFix/>
          </a:blip>
          <a:srcRect b="0" l="0" r="0" t="0"/>
          <a:stretch/>
        </p:blipFill>
        <p:spPr>
          <a:xfrm>
            <a:off x="857250" y="2129884"/>
            <a:ext cx="381000" cy="381000"/>
          </a:xfrm>
          <a:prstGeom prst="rect">
            <a:avLst/>
          </a:prstGeom>
          <a:noFill/>
          <a:ln>
            <a:noFill/>
          </a:ln>
        </p:spPr>
      </p:pic>
      <p:pic>
        <p:nvPicPr>
          <p:cNvPr descr="image.png" id="140" name="Google Shape;140;p15"/>
          <p:cNvPicPr preferRelativeResize="0"/>
          <p:nvPr/>
        </p:nvPicPr>
        <p:blipFill rotWithShape="1">
          <a:blip r:embed="rId4">
            <a:alphaModFix/>
          </a:blip>
          <a:srcRect b="0" l="0" r="0" t="0"/>
          <a:stretch/>
        </p:blipFill>
        <p:spPr>
          <a:xfrm>
            <a:off x="4572000" y="2129879"/>
            <a:ext cx="381000" cy="381000"/>
          </a:xfrm>
          <a:prstGeom prst="rect">
            <a:avLst/>
          </a:prstGeom>
          <a:noFill/>
          <a:ln>
            <a:noFill/>
          </a:ln>
        </p:spPr>
      </p:pic>
      <p:pic>
        <p:nvPicPr>
          <p:cNvPr descr="image.png" id="141" name="Google Shape;141;p15"/>
          <p:cNvPicPr preferRelativeResize="0"/>
          <p:nvPr/>
        </p:nvPicPr>
        <p:blipFill rotWithShape="1">
          <a:blip r:embed="rId5">
            <a:alphaModFix/>
          </a:blip>
          <a:srcRect b="0" l="0" r="0" t="0"/>
          <a:stretch/>
        </p:blipFill>
        <p:spPr>
          <a:xfrm>
            <a:off x="8286750" y="2129878"/>
            <a:ext cx="381000" cy="381000"/>
          </a:xfrm>
          <a:prstGeom prst="rect">
            <a:avLst/>
          </a:prstGeom>
          <a:noFill/>
          <a:ln>
            <a:noFill/>
          </a:ln>
        </p:spPr>
      </p:pic>
      <p:pic>
        <p:nvPicPr>
          <p:cNvPr descr="image.png" id="142" name="Google Shape;142;p15"/>
          <p:cNvPicPr preferRelativeResize="0"/>
          <p:nvPr/>
        </p:nvPicPr>
        <p:blipFill rotWithShape="1">
          <a:blip r:embed="rId6">
            <a:alphaModFix/>
          </a:blip>
          <a:srcRect b="0" l="0" r="0" t="0"/>
          <a:stretch/>
        </p:blipFill>
        <p:spPr>
          <a:xfrm>
            <a:off x="981075" y="2234659"/>
            <a:ext cx="133350" cy="171450"/>
          </a:xfrm>
          <a:prstGeom prst="rect">
            <a:avLst/>
          </a:prstGeom>
          <a:noFill/>
          <a:ln>
            <a:noFill/>
          </a:ln>
        </p:spPr>
      </p:pic>
      <p:pic>
        <p:nvPicPr>
          <p:cNvPr descr="image.png" id="143" name="Google Shape;143;p15"/>
          <p:cNvPicPr preferRelativeResize="0"/>
          <p:nvPr/>
        </p:nvPicPr>
        <p:blipFill rotWithShape="1">
          <a:blip r:embed="rId7">
            <a:alphaModFix/>
          </a:blip>
          <a:srcRect b="0" l="0" r="0" t="0"/>
          <a:stretch/>
        </p:blipFill>
        <p:spPr>
          <a:xfrm>
            <a:off x="4676775" y="2234654"/>
            <a:ext cx="171450" cy="171450"/>
          </a:xfrm>
          <a:prstGeom prst="rect">
            <a:avLst/>
          </a:prstGeom>
          <a:noFill/>
          <a:ln>
            <a:noFill/>
          </a:ln>
        </p:spPr>
      </p:pic>
      <p:pic>
        <p:nvPicPr>
          <p:cNvPr descr="image.png" id="144" name="Google Shape;144;p15"/>
          <p:cNvPicPr preferRelativeResize="0"/>
          <p:nvPr/>
        </p:nvPicPr>
        <p:blipFill rotWithShape="1">
          <a:blip r:embed="rId8">
            <a:alphaModFix/>
          </a:blip>
          <a:srcRect b="0" l="0" r="0" t="0"/>
          <a:stretch/>
        </p:blipFill>
        <p:spPr>
          <a:xfrm>
            <a:off x="8391525" y="2234653"/>
            <a:ext cx="171450" cy="171450"/>
          </a:xfrm>
          <a:prstGeom prst="rect">
            <a:avLst/>
          </a:prstGeom>
          <a:noFill/>
          <a:ln>
            <a:noFill/>
          </a:ln>
        </p:spPr>
      </p:pic>
      <p:sp>
        <p:nvSpPr>
          <p:cNvPr id="145" name="Google Shape;145;p15"/>
          <p:cNvSpPr txBox="1"/>
          <p:nvPr/>
        </p:nvSpPr>
        <p:spPr>
          <a:xfrm>
            <a:off x="11372850" y="542925"/>
            <a:ext cx="1809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1717A"/>
                </a:solidFill>
                <a:latin typeface="Space Grotesk"/>
                <a:ea typeface="Space Grotesk"/>
                <a:cs typeface="Space Grotesk"/>
                <a:sym typeface="Space Grotesk"/>
              </a:rPr>
              <a:t>3</a:t>
            </a:r>
            <a:endParaRPr/>
          </a:p>
        </p:txBody>
      </p:sp>
      <p:sp>
        <p:nvSpPr>
          <p:cNvPr id="146" name="Google Shape;146;p15"/>
          <p:cNvSpPr txBox="1"/>
          <p:nvPr/>
        </p:nvSpPr>
        <p:spPr>
          <a:xfrm>
            <a:off x="847725" y="4278362"/>
            <a:ext cx="105918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563EB"/>
                </a:solidFill>
                <a:latin typeface="Inter"/>
                <a:ea typeface="Inter"/>
                <a:cs typeface="Inter"/>
                <a:sym typeface="Inter"/>
              </a:rPr>
              <a:t>Core Statement</a:t>
            </a:r>
            <a:endParaRPr/>
          </a:p>
        </p:txBody>
      </p:sp>
      <p:sp>
        <p:nvSpPr>
          <p:cNvPr id="147" name="Google Shape;147;p15"/>
          <p:cNvSpPr txBox="1"/>
          <p:nvPr/>
        </p:nvSpPr>
        <p:spPr>
          <a:xfrm>
            <a:off x="619125" y="723900"/>
            <a:ext cx="2671427" cy="35049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400" u="none" cap="none" strike="noStrike">
                <a:solidFill>
                  <a:srgbClr val="09090B"/>
                </a:solidFill>
                <a:latin typeface="Space Grotesk"/>
                <a:ea typeface="Space Grotesk"/>
                <a:cs typeface="Space Grotesk"/>
                <a:sym typeface="Space Grotesk"/>
              </a:rPr>
              <a:t>Business Case</a:t>
            </a:r>
            <a:endParaRPr/>
          </a:p>
        </p:txBody>
      </p:sp>
      <p:sp>
        <p:nvSpPr>
          <p:cNvPr id="148" name="Google Shape;148;p15"/>
          <p:cNvSpPr txBox="1"/>
          <p:nvPr/>
        </p:nvSpPr>
        <p:spPr>
          <a:xfrm>
            <a:off x="885825" y="4497437"/>
            <a:ext cx="10553700" cy="51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u="none" cap="none" strike="noStrike">
                <a:solidFill>
                  <a:srgbClr val="1E3A8A"/>
                </a:solidFill>
                <a:latin typeface="Inter"/>
                <a:ea typeface="Inter"/>
                <a:cs typeface="Inter"/>
                <a:sym typeface="Inter"/>
              </a:rPr>
              <a:t>Barcelona’s short-term rental market is highly seasonal and competitive. The goal is to identify which factors most strongly affect occupancy, ADR, RevPAR, and revenue, and use them to improve pricing and property selection.</a:t>
            </a:r>
            <a:endParaRPr sz="1300"/>
          </a:p>
        </p:txBody>
      </p:sp>
      <p:sp>
        <p:nvSpPr>
          <p:cNvPr id="149" name="Google Shape;149;p15"/>
          <p:cNvSpPr txBox="1"/>
          <p:nvPr/>
        </p:nvSpPr>
        <p:spPr>
          <a:xfrm>
            <a:off x="857250" y="2602179"/>
            <a:ext cx="40005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9090B"/>
                </a:solidFill>
                <a:latin typeface="Space Grotesk"/>
                <a:ea typeface="Space Grotesk"/>
                <a:cs typeface="Space Grotesk"/>
                <a:sym typeface="Space Grotesk"/>
              </a:rPr>
              <a:t>Client</a:t>
            </a:r>
            <a:endParaRPr/>
          </a:p>
        </p:txBody>
      </p:sp>
      <p:sp>
        <p:nvSpPr>
          <p:cNvPr id="150" name="Google Shape;150;p15"/>
          <p:cNvSpPr txBox="1"/>
          <p:nvPr/>
        </p:nvSpPr>
        <p:spPr>
          <a:xfrm>
            <a:off x="857250" y="2961382"/>
            <a:ext cx="3143400" cy="68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1350">
                <a:solidFill>
                  <a:srgbClr val="52525B"/>
                </a:solidFill>
                <a:latin typeface="Inter"/>
                <a:ea typeface="Inter"/>
                <a:cs typeface="Inter"/>
                <a:sym typeface="Inter"/>
              </a:rPr>
              <a:t>A short-term rental operator considering expansion into Barcelona</a:t>
            </a:r>
            <a:r>
              <a:rPr lang="en-US" sz="1350">
                <a:solidFill>
                  <a:srgbClr val="52525B"/>
                </a:solidFill>
                <a:latin typeface="Inter"/>
                <a:ea typeface="Inter"/>
                <a:cs typeface="Inter"/>
                <a:sym typeface="Inter"/>
              </a:rPr>
              <a:t>.</a:t>
            </a:r>
            <a:r>
              <a:rPr lang="en-US" sz="1100">
                <a:solidFill>
                  <a:schemeClr val="dk1"/>
                </a:solidFill>
              </a:rPr>
              <a:t> </a:t>
            </a:r>
            <a:endParaRPr sz="1100">
              <a:solidFill>
                <a:schemeClr val="dk1"/>
              </a:solidFill>
            </a:endParaRPr>
          </a:p>
          <a:p>
            <a:pPr indent="0" lvl="0" marL="0" marR="0" rtl="0" algn="l">
              <a:lnSpc>
                <a:spcPct val="139925"/>
              </a:lnSpc>
              <a:spcBef>
                <a:spcPts val="0"/>
              </a:spcBef>
              <a:spcAft>
                <a:spcPts val="0"/>
              </a:spcAft>
              <a:buNone/>
            </a:pPr>
            <a:r>
              <a:t/>
            </a:r>
            <a:endParaRPr sz="1350">
              <a:solidFill>
                <a:srgbClr val="52525B"/>
              </a:solidFill>
              <a:latin typeface="Inter"/>
              <a:ea typeface="Inter"/>
              <a:cs typeface="Inter"/>
              <a:sym typeface="Inter"/>
            </a:endParaRPr>
          </a:p>
        </p:txBody>
      </p:sp>
      <p:sp>
        <p:nvSpPr>
          <p:cNvPr id="151" name="Google Shape;151;p15"/>
          <p:cNvSpPr txBox="1"/>
          <p:nvPr/>
        </p:nvSpPr>
        <p:spPr>
          <a:xfrm>
            <a:off x="4572000" y="2602179"/>
            <a:ext cx="40005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9090B"/>
                </a:solidFill>
                <a:latin typeface="Space Grotesk"/>
                <a:ea typeface="Space Grotesk"/>
                <a:cs typeface="Space Grotesk"/>
                <a:sym typeface="Space Grotesk"/>
              </a:rPr>
              <a:t>Business Problem</a:t>
            </a:r>
            <a:endParaRPr/>
          </a:p>
        </p:txBody>
      </p:sp>
      <p:sp>
        <p:nvSpPr>
          <p:cNvPr id="152" name="Google Shape;152;p15"/>
          <p:cNvSpPr txBox="1"/>
          <p:nvPr/>
        </p:nvSpPr>
        <p:spPr>
          <a:xfrm>
            <a:off x="4572000" y="2961381"/>
            <a:ext cx="31434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Clr>
                <a:srgbClr val="000000"/>
              </a:buClr>
              <a:buFont typeface="Arial"/>
              <a:buNone/>
            </a:pPr>
            <a:r>
              <a:rPr lang="en-US" sz="1350">
                <a:solidFill>
                  <a:srgbClr val="52525B"/>
                </a:solidFill>
                <a:latin typeface="Inter"/>
                <a:ea typeface="Inter"/>
                <a:cs typeface="Inter"/>
                <a:sym typeface="Inter"/>
              </a:rPr>
              <a:t>Know where to invest, how to price, and when demand peaks.</a:t>
            </a:r>
            <a:endParaRPr/>
          </a:p>
        </p:txBody>
      </p:sp>
      <p:sp>
        <p:nvSpPr>
          <p:cNvPr id="153" name="Google Shape;153;p15"/>
          <p:cNvSpPr txBox="1"/>
          <p:nvPr/>
        </p:nvSpPr>
        <p:spPr>
          <a:xfrm>
            <a:off x="8286750" y="2602179"/>
            <a:ext cx="39054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9090B"/>
                </a:solidFill>
                <a:latin typeface="Space Grotesk"/>
                <a:ea typeface="Space Grotesk"/>
                <a:cs typeface="Space Grotesk"/>
                <a:sym typeface="Space Grotesk"/>
              </a:rPr>
              <a:t>Objective</a:t>
            </a:r>
            <a:endParaRPr/>
          </a:p>
        </p:txBody>
      </p:sp>
      <p:sp>
        <p:nvSpPr>
          <p:cNvPr id="154" name="Google Shape;154;p15"/>
          <p:cNvSpPr txBox="1"/>
          <p:nvPr/>
        </p:nvSpPr>
        <p:spPr>
          <a:xfrm>
            <a:off x="8286750" y="2961382"/>
            <a:ext cx="3143400" cy="68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1350">
                <a:solidFill>
                  <a:srgbClr val="52525B"/>
                </a:solidFill>
                <a:latin typeface="Inter"/>
                <a:ea typeface="Inter"/>
                <a:cs typeface="Inter"/>
                <a:sym typeface="Inter"/>
              </a:rPr>
              <a:t>Use Airbnb, tourism, weather, and location data to identify what drives rental performance.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16"/>
          <p:cNvSpPr/>
          <p:nvPr/>
        </p:nvSpPr>
        <p:spPr>
          <a:xfrm>
            <a:off x="11258550" y="504825"/>
            <a:ext cx="314325" cy="247650"/>
          </a:xfrm>
          <a:prstGeom prst="roundRect">
            <a:avLst>
              <a:gd fmla="val 15384" name="adj"/>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6"/>
          <p:cNvSpPr/>
          <p:nvPr/>
        </p:nvSpPr>
        <p:spPr>
          <a:xfrm>
            <a:off x="619125" y="2261443"/>
            <a:ext cx="5381625" cy="1453157"/>
          </a:xfrm>
          <a:prstGeom prst="roundRect">
            <a:avLst>
              <a:gd fmla="val 5243"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6"/>
          <p:cNvSpPr/>
          <p:nvPr/>
        </p:nvSpPr>
        <p:spPr>
          <a:xfrm>
            <a:off x="6191250" y="2261443"/>
            <a:ext cx="5381625" cy="1453157"/>
          </a:xfrm>
          <a:prstGeom prst="roundRect">
            <a:avLst>
              <a:gd fmla="val 5243"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6"/>
          <p:cNvSpPr/>
          <p:nvPr/>
        </p:nvSpPr>
        <p:spPr>
          <a:xfrm>
            <a:off x="619125" y="3905101"/>
            <a:ext cx="5381625" cy="1213246"/>
          </a:xfrm>
          <a:prstGeom prst="roundRect">
            <a:avLst>
              <a:gd fmla="val 6280"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6"/>
          <p:cNvSpPr/>
          <p:nvPr/>
        </p:nvSpPr>
        <p:spPr>
          <a:xfrm>
            <a:off x="6191250" y="3905101"/>
            <a:ext cx="5381625" cy="1213246"/>
          </a:xfrm>
          <a:prstGeom prst="roundRect">
            <a:avLst>
              <a:gd fmla="val 6280"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4" name="Google Shape;164;p16"/>
          <p:cNvPicPr preferRelativeResize="0"/>
          <p:nvPr/>
        </p:nvPicPr>
        <p:blipFill rotWithShape="1">
          <a:blip r:embed="rId3">
            <a:alphaModFix/>
          </a:blip>
          <a:srcRect b="0" l="0" r="0" t="0"/>
          <a:stretch/>
        </p:blipFill>
        <p:spPr>
          <a:xfrm>
            <a:off x="857250" y="2499568"/>
            <a:ext cx="419100" cy="419100"/>
          </a:xfrm>
          <a:prstGeom prst="rect">
            <a:avLst/>
          </a:prstGeom>
          <a:noFill/>
          <a:ln>
            <a:noFill/>
          </a:ln>
        </p:spPr>
      </p:pic>
      <p:pic>
        <p:nvPicPr>
          <p:cNvPr descr="image.png" id="165" name="Google Shape;165;p16"/>
          <p:cNvPicPr preferRelativeResize="0"/>
          <p:nvPr/>
        </p:nvPicPr>
        <p:blipFill rotWithShape="1">
          <a:blip r:embed="rId3">
            <a:alphaModFix/>
          </a:blip>
          <a:srcRect b="0" l="0" r="0" t="0"/>
          <a:stretch/>
        </p:blipFill>
        <p:spPr>
          <a:xfrm>
            <a:off x="6429375" y="2499568"/>
            <a:ext cx="419100" cy="419100"/>
          </a:xfrm>
          <a:prstGeom prst="rect">
            <a:avLst/>
          </a:prstGeom>
          <a:noFill/>
          <a:ln>
            <a:noFill/>
          </a:ln>
        </p:spPr>
      </p:pic>
      <p:pic>
        <p:nvPicPr>
          <p:cNvPr descr="image.png" id="166" name="Google Shape;166;p16"/>
          <p:cNvPicPr preferRelativeResize="0"/>
          <p:nvPr/>
        </p:nvPicPr>
        <p:blipFill rotWithShape="1">
          <a:blip r:embed="rId4">
            <a:alphaModFix/>
          </a:blip>
          <a:srcRect b="0" l="0" r="0" t="0"/>
          <a:stretch/>
        </p:blipFill>
        <p:spPr>
          <a:xfrm>
            <a:off x="857250" y="4143226"/>
            <a:ext cx="419100" cy="419100"/>
          </a:xfrm>
          <a:prstGeom prst="rect">
            <a:avLst/>
          </a:prstGeom>
          <a:noFill/>
          <a:ln>
            <a:noFill/>
          </a:ln>
        </p:spPr>
      </p:pic>
      <p:pic>
        <p:nvPicPr>
          <p:cNvPr descr="image.png" id="167" name="Google Shape;167;p16"/>
          <p:cNvPicPr preferRelativeResize="0"/>
          <p:nvPr/>
        </p:nvPicPr>
        <p:blipFill rotWithShape="1">
          <a:blip r:embed="rId4">
            <a:alphaModFix/>
          </a:blip>
          <a:srcRect b="0" l="0" r="0" t="0"/>
          <a:stretch/>
        </p:blipFill>
        <p:spPr>
          <a:xfrm>
            <a:off x="6429375" y="4143226"/>
            <a:ext cx="419100" cy="419100"/>
          </a:xfrm>
          <a:prstGeom prst="rect">
            <a:avLst/>
          </a:prstGeom>
          <a:noFill/>
          <a:ln>
            <a:noFill/>
          </a:ln>
        </p:spPr>
      </p:pic>
      <p:pic>
        <p:nvPicPr>
          <p:cNvPr descr="image.png" id="168" name="Google Shape;168;p16"/>
          <p:cNvPicPr preferRelativeResize="0"/>
          <p:nvPr/>
        </p:nvPicPr>
        <p:blipFill rotWithShape="1">
          <a:blip r:embed="rId5">
            <a:alphaModFix/>
          </a:blip>
          <a:srcRect b="0" l="0" r="0" t="0"/>
          <a:stretch/>
        </p:blipFill>
        <p:spPr>
          <a:xfrm>
            <a:off x="981075" y="2613868"/>
            <a:ext cx="171450" cy="190500"/>
          </a:xfrm>
          <a:prstGeom prst="rect">
            <a:avLst/>
          </a:prstGeom>
          <a:noFill/>
          <a:ln>
            <a:noFill/>
          </a:ln>
        </p:spPr>
      </p:pic>
      <p:pic>
        <p:nvPicPr>
          <p:cNvPr descr="image.png" id="169" name="Google Shape;169;p16"/>
          <p:cNvPicPr preferRelativeResize="0"/>
          <p:nvPr/>
        </p:nvPicPr>
        <p:blipFill rotWithShape="1">
          <a:blip r:embed="rId6">
            <a:alphaModFix/>
          </a:blip>
          <a:srcRect b="0" l="0" r="0" t="0"/>
          <a:stretch/>
        </p:blipFill>
        <p:spPr>
          <a:xfrm>
            <a:off x="6519862" y="2613868"/>
            <a:ext cx="238125" cy="190500"/>
          </a:xfrm>
          <a:prstGeom prst="rect">
            <a:avLst/>
          </a:prstGeom>
          <a:noFill/>
          <a:ln>
            <a:noFill/>
          </a:ln>
        </p:spPr>
      </p:pic>
      <p:pic>
        <p:nvPicPr>
          <p:cNvPr descr="image.png" id="170" name="Google Shape;170;p16"/>
          <p:cNvPicPr preferRelativeResize="0"/>
          <p:nvPr/>
        </p:nvPicPr>
        <p:blipFill rotWithShape="1">
          <a:blip r:embed="rId7">
            <a:alphaModFix/>
          </a:blip>
          <a:srcRect b="0" l="0" r="0" t="0"/>
          <a:stretch/>
        </p:blipFill>
        <p:spPr>
          <a:xfrm>
            <a:off x="947737" y="4257526"/>
            <a:ext cx="238125" cy="190500"/>
          </a:xfrm>
          <a:prstGeom prst="rect">
            <a:avLst/>
          </a:prstGeom>
          <a:noFill/>
          <a:ln>
            <a:noFill/>
          </a:ln>
        </p:spPr>
      </p:pic>
      <p:pic>
        <p:nvPicPr>
          <p:cNvPr descr="image.png" id="171" name="Google Shape;171;p16"/>
          <p:cNvPicPr preferRelativeResize="0"/>
          <p:nvPr/>
        </p:nvPicPr>
        <p:blipFill rotWithShape="1">
          <a:blip r:embed="rId8">
            <a:alphaModFix/>
          </a:blip>
          <a:srcRect b="0" l="0" r="0" t="0"/>
          <a:stretch/>
        </p:blipFill>
        <p:spPr>
          <a:xfrm>
            <a:off x="6567487" y="4257526"/>
            <a:ext cx="142875" cy="190500"/>
          </a:xfrm>
          <a:prstGeom prst="rect">
            <a:avLst/>
          </a:prstGeom>
          <a:noFill/>
          <a:ln>
            <a:noFill/>
          </a:ln>
        </p:spPr>
      </p:pic>
      <p:sp>
        <p:nvSpPr>
          <p:cNvPr id="172" name="Google Shape;172;p16"/>
          <p:cNvSpPr txBox="1"/>
          <p:nvPr/>
        </p:nvSpPr>
        <p:spPr>
          <a:xfrm>
            <a:off x="11372850" y="542925"/>
            <a:ext cx="1809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1717A"/>
                </a:solidFill>
                <a:latin typeface="Space Grotesk"/>
                <a:ea typeface="Space Grotesk"/>
                <a:cs typeface="Space Grotesk"/>
                <a:sym typeface="Space Grotesk"/>
              </a:rPr>
              <a:t>4</a:t>
            </a:r>
            <a:endParaRPr/>
          </a:p>
        </p:txBody>
      </p:sp>
      <p:sp>
        <p:nvSpPr>
          <p:cNvPr id="173" name="Google Shape;173;p16"/>
          <p:cNvSpPr txBox="1"/>
          <p:nvPr/>
        </p:nvSpPr>
        <p:spPr>
          <a:xfrm>
            <a:off x="619125" y="723900"/>
            <a:ext cx="4053045" cy="35049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400" u="none" cap="none" strike="noStrike">
                <a:solidFill>
                  <a:srgbClr val="09090B"/>
                </a:solidFill>
                <a:latin typeface="Space Grotesk"/>
                <a:ea typeface="Space Grotesk"/>
                <a:cs typeface="Space Grotesk"/>
                <a:sym typeface="Space Grotesk"/>
              </a:rPr>
              <a:t>Data Sources &amp; Scope</a:t>
            </a:r>
            <a:endParaRPr/>
          </a:p>
        </p:txBody>
      </p:sp>
      <p:sp>
        <p:nvSpPr>
          <p:cNvPr id="174" name="Google Shape;174;p16"/>
          <p:cNvSpPr txBox="1"/>
          <p:nvPr/>
        </p:nvSpPr>
        <p:spPr>
          <a:xfrm>
            <a:off x="1428750" y="2499568"/>
            <a:ext cx="568821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9090B"/>
                </a:solidFill>
                <a:latin typeface="Space Grotesk"/>
                <a:ea typeface="Space Grotesk"/>
                <a:cs typeface="Space Grotesk"/>
                <a:sym typeface="Space Grotesk"/>
              </a:rPr>
              <a:t>Kaggle — Airbnb Barcelona (2021–2026)</a:t>
            </a:r>
            <a:endParaRPr/>
          </a:p>
        </p:txBody>
      </p:sp>
      <p:sp>
        <p:nvSpPr>
          <p:cNvPr id="175" name="Google Shape;175;p16"/>
          <p:cNvSpPr txBox="1"/>
          <p:nvPr/>
        </p:nvSpPr>
        <p:spPr>
          <a:xfrm>
            <a:off x="1428750" y="2756743"/>
            <a:ext cx="4429200" cy="7893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1350">
                <a:solidFill>
                  <a:srgbClr val="52525B"/>
                </a:solidFill>
                <a:latin typeface="Inter"/>
                <a:ea typeface="Inter"/>
                <a:cs typeface="Inter"/>
                <a:sym typeface="Inter"/>
              </a:rPr>
              <a:t>Jason_AirROI</a:t>
            </a:r>
            <a:endParaRPr sz="1350">
              <a:solidFill>
                <a:srgbClr val="52525B"/>
              </a:solidFill>
              <a:latin typeface="Inter"/>
              <a:ea typeface="Inter"/>
              <a:cs typeface="Inter"/>
              <a:sym typeface="Inter"/>
            </a:endParaRPr>
          </a:p>
          <a:p>
            <a:pPr indent="0" lvl="0" marL="0" marR="0" rtl="0" algn="l">
              <a:lnSpc>
                <a:spcPct val="139925"/>
              </a:lnSpc>
              <a:spcBef>
                <a:spcPts val="0"/>
              </a:spcBef>
              <a:spcAft>
                <a:spcPts val="0"/>
              </a:spcAft>
              <a:buNone/>
            </a:pPr>
            <a:r>
              <a:rPr lang="en-US" sz="1350">
                <a:solidFill>
                  <a:srgbClr val="52525B"/>
                </a:solidFill>
                <a:latin typeface="Inter"/>
                <a:ea typeface="Inter"/>
                <a:cs typeface="Inter"/>
                <a:sym typeface="Inter"/>
              </a:rPr>
              <a:t>~2,500 listings with property details, location, amenities, and ratings</a:t>
            </a:r>
            <a:endParaRPr sz="1350">
              <a:solidFill>
                <a:srgbClr val="52525B"/>
              </a:solidFill>
              <a:latin typeface="Inter"/>
              <a:ea typeface="Inter"/>
              <a:cs typeface="Inter"/>
              <a:sym typeface="Inter"/>
            </a:endParaRPr>
          </a:p>
        </p:txBody>
      </p:sp>
      <p:sp>
        <p:nvSpPr>
          <p:cNvPr id="176" name="Google Shape;176;p16"/>
          <p:cNvSpPr txBox="1"/>
          <p:nvPr/>
        </p:nvSpPr>
        <p:spPr>
          <a:xfrm>
            <a:off x="7000875" y="2499568"/>
            <a:ext cx="519112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9090B"/>
                </a:solidFill>
                <a:latin typeface="Space Grotesk"/>
                <a:ea typeface="Space Grotesk"/>
                <a:cs typeface="Space Grotesk"/>
                <a:sym typeface="Space Grotesk"/>
              </a:rPr>
              <a:t>Open-Meteo Weather API</a:t>
            </a:r>
            <a:endParaRPr/>
          </a:p>
        </p:txBody>
      </p:sp>
      <p:sp>
        <p:nvSpPr>
          <p:cNvPr id="177" name="Google Shape;177;p16"/>
          <p:cNvSpPr txBox="1"/>
          <p:nvPr/>
        </p:nvSpPr>
        <p:spPr>
          <a:xfrm>
            <a:off x="7000875" y="2756743"/>
            <a:ext cx="44292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1350">
                <a:solidFill>
                  <a:srgbClr val="52525B"/>
                </a:solidFill>
                <a:latin typeface="Inter"/>
                <a:ea typeface="Inter"/>
                <a:cs typeface="Inter"/>
                <a:sym typeface="Inter"/>
              </a:rPr>
              <a:t>Historical Weather API, from 1940</a:t>
            </a:r>
            <a:endParaRPr sz="1350">
              <a:solidFill>
                <a:srgbClr val="52525B"/>
              </a:solidFill>
              <a:latin typeface="Inter"/>
              <a:ea typeface="Inter"/>
              <a:cs typeface="Inter"/>
              <a:sym typeface="Inter"/>
            </a:endParaRPr>
          </a:p>
          <a:p>
            <a:pPr indent="0" lvl="0" marL="0" marR="0" rtl="0" algn="l">
              <a:lnSpc>
                <a:spcPct val="139925"/>
              </a:lnSpc>
              <a:spcBef>
                <a:spcPts val="0"/>
              </a:spcBef>
              <a:spcAft>
                <a:spcPts val="0"/>
              </a:spcAft>
              <a:buNone/>
            </a:pPr>
            <a:r>
              <a:t/>
            </a:r>
            <a:endParaRPr sz="1350">
              <a:solidFill>
                <a:srgbClr val="52525B"/>
              </a:solidFill>
              <a:latin typeface="Inter"/>
              <a:ea typeface="Inter"/>
              <a:cs typeface="Inter"/>
              <a:sym typeface="Inter"/>
            </a:endParaRPr>
          </a:p>
        </p:txBody>
      </p:sp>
      <p:sp>
        <p:nvSpPr>
          <p:cNvPr id="178" name="Google Shape;178;p16"/>
          <p:cNvSpPr txBox="1"/>
          <p:nvPr/>
        </p:nvSpPr>
        <p:spPr>
          <a:xfrm>
            <a:off x="1428750" y="4143226"/>
            <a:ext cx="56883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9090B"/>
                </a:solidFill>
                <a:latin typeface="Space Grotesk"/>
                <a:ea typeface="Space Grotesk"/>
                <a:cs typeface="Space Grotesk"/>
                <a:sym typeface="Space Grotesk"/>
              </a:rPr>
              <a:t>INE</a:t>
            </a:r>
            <a:r>
              <a:rPr b="1" lang="en-US" sz="1350">
                <a:solidFill>
                  <a:srgbClr val="09090B"/>
                </a:solidFill>
                <a:latin typeface="Space Grotesk"/>
                <a:ea typeface="Space Grotesk"/>
                <a:cs typeface="Space Grotesk"/>
                <a:sym typeface="Space Grotesk"/>
              </a:rPr>
              <a:t>— Spanish National Statistics Institute. API</a:t>
            </a:r>
            <a:endParaRPr b="1" sz="1350">
              <a:solidFill>
                <a:srgbClr val="09090B"/>
              </a:solidFill>
              <a:latin typeface="Space Grotesk"/>
              <a:ea typeface="Space Grotesk"/>
              <a:cs typeface="Space Grotesk"/>
              <a:sym typeface="Space Grotesk"/>
            </a:endParaRPr>
          </a:p>
        </p:txBody>
      </p:sp>
      <p:sp>
        <p:nvSpPr>
          <p:cNvPr id="179" name="Google Shape;179;p16"/>
          <p:cNvSpPr txBox="1"/>
          <p:nvPr/>
        </p:nvSpPr>
        <p:spPr>
          <a:xfrm>
            <a:off x="1428750" y="4400401"/>
            <a:ext cx="44292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52525B"/>
                </a:solidFill>
                <a:latin typeface="Inter"/>
                <a:ea typeface="Inter"/>
                <a:cs typeface="Inter"/>
                <a:sym typeface="Inter"/>
              </a:rPr>
              <a:t>Monthly domestic and international tourist volumes and hotel overnight stays in Barcelona.</a:t>
            </a:r>
            <a:endParaRPr/>
          </a:p>
        </p:txBody>
      </p:sp>
      <p:sp>
        <p:nvSpPr>
          <p:cNvPr id="180" name="Google Shape;180;p16"/>
          <p:cNvSpPr txBox="1"/>
          <p:nvPr/>
        </p:nvSpPr>
        <p:spPr>
          <a:xfrm>
            <a:off x="7000875" y="4143226"/>
            <a:ext cx="519112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9090B"/>
                </a:solidFill>
                <a:latin typeface="Space Grotesk"/>
                <a:ea typeface="Space Grotesk"/>
                <a:cs typeface="Space Grotesk"/>
                <a:sym typeface="Space Grotesk"/>
              </a:rPr>
              <a:t>OpenStreetMap &amp; Geoapify API</a:t>
            </a:r>
            <a:endParaRPr/>
          </a:p>
        </p:txBody>
      </p:sp>
      <p:sp>
        <p:nvSpPr>
          <p:cNvPr id="181" name="Google Shape;181;p16"/>
          <p:cNvSpPr txBox="1"/>
          <p:nvPr/>
        </p:nvSpPr>
        <p:spPr>
          <a:xfrm>
            <a:off x="7000875" y="4400401"/>
            <a:ext cx="44292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1350">
                <a:solidFill>
                  <a:srgbClr val="52525B"/>
                </a:solidFill>
                <a:latin typeface="Inter"/>
                <a:ea typeface="Inter"/>
                <a:cs typeface="Inter"/>
                <a:sym typeface="Inter"/>
              </a:rPr>
              <a:t>Metro and attraction locations data for proximity analysis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7"/>
          <p:cNvSpPr/>
          <p:nvPr/>
        </p:nvSpPr>
        <p:spPr>
          <a:xfrm>
            <a:off x="11268075" y="504825"/>
            <a:ext cx="304800" cy="247650"/>
          </a:xfrm>
          <a:prstGeom prst="roundRect">
            <a:avLst>
              <a:gd fmla="val 15384" name="adj"/>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7"/>
          <p:cNvSpPr/>
          <p:nvPr/>
        </p:nvSpPr>
        <p:spPr>
          <a:xfrm>
            <a:off x="619125" y="1839366"/>
            <a:ext cx="10953750" cy="857250"/>
          </a:xfrm>
          <a:prstGeom prst="roundRect">
            <a:avLst>
              <a:gd fmla="val 8888"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7"/>
          <p:cNvSpPr/>
          <p:nvPr/>
        </p:nvSpPr>
        <p:spPr>
          <a:xfrm>
            <a:off x="619125" y="4968924"/>
            <a:ext cx="10953750" cy="571500"/>
          </a:xfrm>
          <a:prstGeom prst="rect">
            <a:avLst/>
          </a:prstGeom>
          <a:solidFill>
            <a:srgbClr val="EFF6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17"/>
          <p:cNvSpPr/>
          <p:nvPr/>
        </p:nvSpPr>
        <p:spPr>
          <a:xfrm>
            <a:off x="619125" y="2925216"/>
            <a:ext cx="3524250" cy="1815107"/>
          </a:xfrm>
          <a:prstGeom prst="roundRect">
            <a:avLst>
              <a:gd fmla="val 4198"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17"/>
          <p:cNvSpPr/>
          <p:nvPr/>
        </p:nvSpPr>
        <p:spPr>
          <a:xfrm>
            <a:off x="4333875" y="2925216"/>
            <a:ext cx="3524250" cy="1815107"/>
          </a:xfrm>
          <a:prstGeom prst="roundRect">
            <a:avLst>
              <a:gd fmla="val 4198"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7"/>
          <p:cNvSpPr/>
          <p:nvPr/>
        </p:nvSpPr>
        <p:spPr>
          <a:xfrm>
            <a:off x="8048625" y="2925216"/>
            <a:ext cx="3524250" cy="1815107"/>
          </a:xfrm>
          <a:prstGeom prst="roundRect">
            <a:avLst>
              <a:gd fmla="val 4198"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7"/>
          <p:cNvSpPr/>
          <p:nvPr/>
        </p:nvSpPr>
        <p:spPr>
          <a:xfrm>
            <a:off x="619125" y="4968924"/>
            <a:ext cx="38100" cy="571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17"/>
          <p:cNvSpPr txBox="1"/>
          <p:nvPr/>
        </p:nvSpPr>
        <p:spPr>
          <a:xfrm>
            <a:off x="11382375" y="542925"/>
            <a:ext cx="1714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1717A"/>
                </a:solidFill>
                <a:latin typeface="Space Grotesk"/>
                <a:ea typeface="Space Grotesk"/>
                <a:cs typeface="Space Grotesk"/>
                <a:sym typeface="Space Grotesk"/>
              </a:rPr>
              <a:t>5</a:t>
            </a:r>
            <a:endParaRPr/>
          </a:p>
        </p:txBody>
      </p:sp>
      <p:sp>
        <p:nvSpPr>
          <p:cNvPr id="194" name="Google Shape;194;p17"/>
          <p:cNvSpPr txBox="1"/>
          <p:nvPr/>
        </p:nvSpPr>
        <p:spPr>
          <a:xfrm>
            <a:off x="847725" y="2029866"/>
            <a:ext cx="1059180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563EB"/>
                </a:solidFill>
                <a:latin typeface="Inter"/>
                <a:ea typeface="Inter"/>
                <a:cs typeface="Inter"/>
                <a:sym typeface="Inter"/>
              </a:rPr>
              <a:t>Hypothesis Statement</a:t>
            </a:r>
            <a:endParaRPr/>
          </a:p>
        </p:txBody>
      </p:sp>
      <p:sp>
        <p:nvSpPr>
          <p:cNvPr id="195" name="Google Shape;195;p17"/>
          <p:cNvSpPr txBox="1"/>
          <p:nvPr/>
        </p:nvSpPr>
        <p:spPr>
          <a:xfrm>
            <a:off x="619125" y="504825"/>
            <a:ext cx="63846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1050">
                <a:solidFill>
                  <a:srgbClr val="2563EB"/>
                </a:solidFill>
                <a:latin typeface="Inter"/>
                <a:ea typeface="Inter"/>
                <a:cs typeface="Inter"/>
                <a:sym typeface="Inter"/>
              </a:rPr>
              <a:t>HYPOTHESES 1</a:t>
            </a:r>
            <a:endParaRPr b="1" sz="1050">
              <a:solidFill>
                <a:srgbClr val="2563EB"/>
              </a:solidFill>
              <a:latin typeface="Inter"/>
              <a:ea typeface="Inter"/>
              <a:cs typeface="Inter"/>
              <a:sym typeface="Inter"/>
            </a:endParaRPr>
          </a:p>
        </p:txBody>
      </p:sp>
      <p:sp>
        <p:nvSpPr>
          <p:cNvPr id="196" name="Google Shape;196;p17"/>
          <p:cNvSpPr txBox="1"/>
          <p:nvPr/>
        </p:nvSpPr>
        <p:spPr>
          <a:xfrm>
            <a:off x="619125" y="723900"/>
            <a:ext cx="67041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400" u="none" cap="none" strike="noStrike">
                <a:solidFill>
                  <a:srgbClr val="09090B"/>
                </a:solidFill>
                <a:latin typeface="Space Grotesk"/>
                <a:ea typeface="Space Grotesk"/>
                <a:cs typeface="Space Grotesk"/>
                <a:sym typeface="Space Grotesk"/>
              </a:rPr>
              <a:t>Location &amp; Rental Performance</a:t>
            </a:r>
            <a:endParaRPr/>
          </a:p>
        </p:txBody>
      </p:sp>
      <p:sp>
        <p:nvSpPr>
          <p:cNvPr id="197" name="Google Shape;197;p17"/>
          <p:cNvSpPr txBox="1"/>
          <p:nvPr/>
        </p:nvSpPr>
        <p:spPr>
          <a:xfrm>
            <a:off x="857250" y="2267991"/>
            <a:ext cx="1133475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Inter"/>
                <a:ea typeface="Inter"/>
                <a:cs typeface="Inter"/>
                <a:sym typeface="Inter"/>
              </a:rPr>
              <a:t>“Rental performance varies by neighbourhood and proximity to metro stations and attractions.”</a:t>
            </a:r>
            <a:endParaRPr/>
          </a:p>
        </p:txBody>
      </p:sp>
      <p:sp>
        <p:nvSpPr>
          <p:cNvPr id="198" name="Google Shape;198;p17"/>
          <p:cNvSpPr txBox="1"/>
          <p:nvPr/>
        </p:nvSpPr>
        <p:spPr>
          <a:xfrm>
            <a:off x="-227409" y="5140374"/>
            <a:ext cx="126849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1E40AF"/>
                </a:solidFill>
                <a:latin typeface="Inter"/>
                <a:ea typeface="Inter"/>
                <a:cs typeface="Inter"/>
                <a:sym typeface="Inter"/>
              </a:rPr>
              <a:t>Question: “Which matters more: neighbourhood or POI proximity?”</a:t>
            </a:r>
            <a:endParaRPr/>
          </a:p>
        </p:txBody>
      </p:sp>
      <p:sp>
        <p:nvSpPr>
          <p:cNvPr id="199" name="Google Shape;199;p17"/>
          <p:cNvSpPr txBox="1"/>
          <p:nvPr/>
        </p:nvSpPr>
        <p:spPr>
          <a:xfrm>
            <a:off x="857250" y="3163341"/>
            <a:ext cx="381000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2563EB"/>
                </a:solidFill>
                <a:latin typeface="Space Grotesk"/>
                <a:ea typeface="Space Grotesk"/>
                <a:cs typeface="Space Grotesk"/>
                <a:sym typeface="Space Grotesk"/>
              </a:rPr>
              <a:t>Q1</a:t>
            </a:r>
            <a:endParaRPr/>
          </a:p>
        </p:txBody>
      </p:sp>
      <p:sp>
        <p:nvSpPr>
          <p:cNvPr id="200" name="Google Shape;200;p17"/>
          <p:cNvSpPr txBox="1"/>
          <p:nvPr/>
        </p:nvSpPr>
        <p:spPr>
          <a:xfrm>
            <a:off x="857250" y="3506241"/>
            <a:ext cx="40005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9090B"/>
                </a:solidFill>
                <a:latin typeface="Space Grotesk"/>
                <a:ea typeface="Space Grotesk"/>
                <a:cs typeface="Space Grotesk"/>
                <a:sym typeface="Space Grotesk"/>
              </a:rPr>
              <a:t>Neighbourhood</a:t>
            </a:r>
            <a:endParaRPr/>
          </a:p>
        </p:txBody>
      </p:sp>
      <p:sp>
        <p:nvSpPr>
          <p:cNvPr id="201" name="Google Shape;201;p17"/>
          <p:cNvSpPr txBox="1"/>
          <p:nvPr/>
        </p:nvSpPr>
        <p:spPr>
          <a:xfrm>
            <a:off x="857250" y="3782466"/>
            <a:ext cx="3143400" cy="7893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1350">
                <a:solidFill>
                  <a:srgbClr val="52525B"/>
                </a:solidFill>
                <a:latin typeface="Inter"/>
                <a:ea typeface="Inter"/>
                <a:cs typeface="Inter"/>
                <a:sym typeface="Inter"/>
              </a:rPr>
              <a:t>Which neighbourhoods perform best and worst across Occupancy, ADR, RevPAR, and Revenue?</a:t>
            </a:r>
            <a:endParaRPr sz="1350">
              <a:solidFill>
                <a:srgbClr val="52525B"/>
              </a:solidFill>
              <a:latin typeface="Inter"/>
              <a:ea typeface="Inter"/>
              <a:cs typeface="Inter"/>
              <a:sym typeface="Inter"/>
            </a:endParaRPr>
          </a:p>
        </p:txBody>
      </p:sp>
      <p:sp>
        <p:nvSpPr>
          <p:cNvPr id="202" name="Google Shape;202;p17"/>
          <p:cNvSpPr txBox="1"/>
          <p:nvPr/>
        </p:nvSpPr>
        <p:spPr>
          <a:xfrm>
            <a:off x="4572000" y="3163341"/>
            <a:ext cx="381000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2563EB"/>
                </a:solidFill>
                <a:latin typeface="Space Grotesk"/>
                <a:ea typeface="Space Grotesk"/>
                <a:cs typeface="Space Grotesk"/>
                <a:sym typeface="Space Grotesk"/>
              </a:rPr>
              <a:t>Q2</a:t>
            </a:r>
            <a:endParaRPr/>
          </a:p>
        </p:txBody>
      </p:sp>
      <p:sp>
        <p:nvSpPr>
          <p:cNvPr id="203" name="Google Shape;203;p17"/>
          <p:cNvSpPr txBox="1"/>
          <p:nvPr/>
        </p:nvSpPr>
        <p:spPr>
          <a:xfrm>
            <a:off x="4572000" y="3506241"/>
            <a:ext cx="4000500" cy="219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9090B"/>
                </a:solidFill>
                <a:latin typeface="Space Grotesk"/>
                <a:ea typeface="Space Grotesk"/>
                <a:cs typeface="Space Grotesk"/>
                <a:sym typeface="Space Grotesk"/>
              </a:rPr>
              <a:t>Metro</a:t>
            </a:r>
            <a:r>
              <a:rPr b="1" i="0" lang="en-US" sz="1350" u="none" cap="none" strike="noStrike">
                <a:solidFill>
                  <a:srgbClr val="09090B"/>
                </a:solidFill>
                <a:latin typeface="Space Grotesk"/>
                <a:ea typeface="Space Grotesk"/>
                <a:cs typeface="Space Grotesk"/>
                <a:sym typeface="Space Grotesk"/>
              </a:rPr>
              <a:t> Access</a:t>
            </a:r>
            <a:endParaRPr/>
          </a:p>
        </p:txBody>
      </p:sp>
      <p:sp>
        <p:nvSpPr>
          <p:cNvPr id="204" name="Google Shape;204;p17"/>
          <p:cNvSpPr txBox="1"/>
          <p:nvPr/>
        </p:nvSpPr>
        <p:spPr>
          <a:xfrm>
            <a:off x="4572000" y="3782466"/>
            <a:ext cx="31434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1350">
                <a:solidFill>
                  <a:srgbClr val="52525B"/>
                </a:solidFill>
                <a:latin typeface="Inter"/>
                <a:ea typeface="Inter"/>
                <a:cs typeface="Inter"/>
                <a:sym typeface="Inter"/>
              </a:rPr>
              <a:t>Does metro proximity relate to rental performance?</a:t>
            </a:r>
            <a:endParaRPr/>
          </a:p>
        </p:txBody>
      </p:sp>
      <p:sp>
        <p:nvSpPr>
          <p:cNvPr id="205" name="Google Shape;205;p17"/>
          <p:cNvSpPr txBox="1"/>
          <p:nvPr/>
        </p:nvSpPr>
        <p:spPr>
          <a:xfrm>
            <a:off x="8286750" y="3163341"/>
            <a:ext cx="381000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2563EB"/>
                </a:solidFill>
                <a:latin typeface="Space Grotesk"/>
                <a:ea typeface="Space Grotesk"/>
                <a:cs typeface="Space Grotesk"/>
                <a:sym typeface="Space Grotesk"/>
              </a:rPr>
              <a:t>Q3</a:t>
            </a:r>
            <a:endParaRPr/>
          </a:p>
        </p:txBody>
      </p:sp>
      <p:sp>
        <p:nvSpPr>
          <p:cNvPr id="206" name="Google Shape;206;p17"/>
          <p:cNvSpPr txBox="1"/>
          <p:nvPr/>
        </p:nvSpPr>
        <p:spPr>
          <a:xfrm>
            <a:off x="8286750" y="3506241"/>
            <a:ext cx="3905400" cy="219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9090B"/>
                </a:solidFill>
                <a:latin typeface="Space Grotesk"/>
                <a:ea typeface="Space Grotesk"/>
                <a:cs typeface="Space Grotesk"/>
                <a:sym typeface="Space Grotesk"/>
              </a:rPr>
              <a:t>Attraction</a:t>
            </a:r>
            <a:r>
              <a:rPr b="1" i="0" lang="en-US" sz="1350" u="none" cap="none" strike="noStrike">
                <a:solidFill>
                  <a:srgbClr val="09090B"/>
                </a:solidFill>
                <a:latin typeface="Space Grotesk"/>
                <a:ea typeface="Space Grotesk"/>
                <a:cs typeface="Space Grotesk"/>
                <a:sym typeface="Space Grotesk"/>
              </a:rPr>
              <a:t> Density</a:t>
            </a:r>
            <a:endParaRPr/>
          </a:p>
        </p:txBody>
      </p:sp>
      <p:sp>
        <p:nvSpPr>
          <p:cNvPr id="207" name="Google Shape;207;p17"/>
          <p:cNvSpPr txBox="1"/>
          <p:nvPr/>
        </p:nvSpPr>
        <p:spPr>
          <a:xfrm>
            <a:off x="8286750" y="3782466"/>
            <a:ext cx="31434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1350">
                <a:solidFill>
                  <a:srgbClr val="52525B"/>
                </a:solidFill>
                <a:latin typeface="Inter"/>
                <a:ea typeface="Inter"/>
                <a:cs typeface="Inter"/>
                <a:sym typeface="Inter"/>
              </a:rPr>
              <a:t>Does attraction proximity relate to rental performance?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18"/>
          <p:cNvSpPr/>
          <p:nvPr/>
        </p:nvSpPr>
        <p:spPr>
          <a:xfrm>
            <a:off x="11258550" y="504825"/>
            <a:ext cx="314325" cy="247650"/>
          </a:xfrm>
          <a:prstGeom prst="roundRect">
            <a:avLst>
              <a:gd fmla="val 15384" name="adj"/>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18"/>
          <p:cNvSpPr/>
          <p:nvPr/>
        </p:nvSpPr>
        <p:spPr>
          <a:xfrm>
            <a:off x="619050" y="781958"/>
            <a:ext cx="10953900" cy="781200"/>
          </a:xfrm>
          <a:prstGeom prst="rect">
            <a:avLst/>
          </a:prstGeom>
          <a:solidFill>
            <a:srgbClr val="EFF6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18"/>
          <p:cNvSpPr/>
          <p:nvPr/>
        </p:nvSpPr>
        <p:spPr>
          <a:xfrm>
            <a:off x="619050" y="781958"/>
            <a:ext cx="38100" cy="7812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18"/>
          <p:cNvSpPr txBox="1"/>
          <p:nvPr/>
        </p:nvSpPr>
        <p:spPr>
          <a:xfrm>
            <a:off x="11372850" y="542925"/>
            <a:ext cx="1809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1717A"/>
                </a:solidFill>
                <a:latin typeface="Space Grotesk"/>
                <a:ea typeface="Space Grotesk"/>
                <a:cs typeface="Space Grotesk"/>
                <a:sym typeface="Space Grotesk"/>
              </a:rPr>
              <a:t>6</a:t>
            </a:r>
            <a:endParaRPr/>
          </a:p>
        </p:txBody>
      </p:sp>
      <p:sp>
        <p:nvSpPr>
          <p:cNvPr id="216" name="Google Shape;216;p18"/>
          <p:cNvSpPr txBox="1"/>
          <p:nvPr/>
        </p:nvSpPr>
        <p:spPr>
          <a:xfrm>
            <a:off x="619125" y="504825"/>
            <a:ext cx="60222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1050">
                <a:solidFill>
                  <a:srgbClr val="2563EB"/>
                </a:solidFill>
                <a:latin typeface="Inter"/>
                <a:ea typeface="Inter"/>
                <a:cs typeface="Inter"/>
                <a:sym typeface="Inter"/>
              </a:rPr>
              <a:t>HYPOTHESES </a:t>
            </a:r>
            <a:r>
              <a:rPr b="1" lang="en-US" sz="1050">
                <a:solidFill>
                  <a:srgbClr val="2563EB"/>
                </a:solidFill>
                <a:latin typeface="Inter"/>
                <a:ea typeface="Inter"/>
                <a:cs typeface="Inter"/>
                <a:sym typeface="Inter"/>
              </a:rPr>
              <a:t>1</a:t>
            </a:r>
            <a:endParaRPr/>
          </a:p>
        </p:txBody>
      </p:sp>
      <p:sp>
        <p:nvSpPr>
          <p:cNvPr id="217" name="Google Shape;217;p18"/>
          <p:cNvSpPr txBox="1"/>
          <p:nvPr/>
        </p:nvSpPr>
        <p:spPr>
          <a:xfrm>
            <a:off x="885750" y="972458"/>
            <a:ext cx="105537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1E3A8A"/>
                </a:solidFill>
                <a:latin typeface="Inter"/>
                <a:ea typeface="Inter"/>
                <a:cs typeface="Inter"/>
                <a:sym typeface="Inter"/>
              </a:rPr>
              <a:t>Neighbourhood matters: Eixample leads in financial performance, Gràcia in occupancy, while Nou Barris consistently underperforms.</a:t>
            </a:r>
            <a:endParaRPr/>
          </a:p>
        </p:txBody>
      </p:sp>
      <p:pic>
        <p:nvPicPr>
          <p:cNvPr id="218" name="Google Shape;218;p18" title="nieghbourhood 1.png"/>
          <p:cNvPicPr preferRelativeResize="0"/>
          <p:nvPr/>
        </p:nvPicPr>
        <p:blipFill>
          <a:blip r:embed="rId3">
            <a:alphaModFix/>
          </a:blip>
          <a:stretch>
            <a:fillRect/>
          </a:stretch>
        </p:blipFill>
        <p:spPr>
          <a:xfrm>
            <a:off x="2131452" y="1678575"/>
            <a:ext cx="7929086" cy="4938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19"/>
          <p:cNvSpPr/>
          <p:nvPr/>
        </p:nvSpPr>
        <p:spPr>
          <a:xfrm>
            <a:off x="11268075" y="504825"/>
            <a:ext cx="304800" cy="247650"/>
          </a:xfrm>
          <a:prstGeom prst="roundRect">
            <a:avLst>
              <a:gd fmla="val 15384" name="adj"/>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24" name="Google Shape;224;p19"/>
          <p:cNvPicPr preferRelativeResize="0"/>
          <p:nvPr/>
        </p:nvPicPr>
        <p:blipFill rotWithShape="1">
          <a:blip r:embed="rId3">
            <a:alphaModFix/>
          </a:blip>
          <a:srcRect b="0" l="0" r="0" t="0"/>
          <a:stretch/>
        </p:blipFill>
        <p:spPr>
          <a:xfrm>
            <a:off x="1432863" y="666536"/>
            <a:ext cx="342900" cy="342900"/>
          </a:xfrm>
          <a:prstGeom prst="rect">
            <a:avLst/>
          </a:prstGeom>
          <a:noFill/>
          <a:ln>
            <a:noFill/>
          </a:ln>
        </p:spPr>
      </p:pic>
      <p:pic>
        <p:nvPicPr>
          <p:cNvPr descr="image.png" id="225" name="Google Shape;225;p19"/>
          <p:cNvPicPr preferRelativeResize="0"/>
          <p:nvPr/>
        </p:nvPicPr>
        <p:blipFill rotWithShape="1">
          <a:blip r:embed="rId3">
            <a:alphaModFix/>
          </a:blip>
          <a:srcRect b="0" l="0" r="0" t="0"/>
          <a:stretch/>
        </p:blipFill>
        <p:spPr>
          <a:xfrm>
            <a:off x="6906438" y="666536"/>
            <a:ext cx="342900" cy="342900"/>
          </a:xfrm>
          <a:prstGeom prst="rect">
            <a:avLst/>
          </a:prstGeom>
          <a:noFill/>
          <a:ln>
            <a:noFill/>
          </a:ln>
        </p:spPr>
      </p:pic>
      <p:pic>
        <p:nvPicPr>
          <p:cNvPr descr="image.png" id="226" name="Google Shape;226;p19"/>
          <p:cNvPicPr preferRelativeResize="0"/>
          <p:nvPr/>
        </p:nvPicPr>
        <p:blipFill rotWithShape="1">
          <a:blip r:embed="rId4">
            <a:alphaModFix/>
          </a:blip>
          <a:srcRect b="0" l="0" r="0" t="0"/>
          <a:stretch/>
        </p:blipFill>
        <p:spPr>
          <a:xfrm>
            <a:off x="1528113" y="752261"/>
            <a:ext cx="152400" cy="171450"/>
          </a:xfrm>
          <a:prstGeom prst="rect">
            <a:avLst/>
          </a:prstGeom>
          <a:noFill/>
          <a:ln>
            <a:noFill/>
          </a:ln>
        </p:spPr>
      </p:pic>
      <p:pic>
        <p:nvPicPr>
          <p:cNvPr descr="image.png" id="227" name="Google Shape;227;p19"/>
          <p:cNvPicPr preferRelativeResize="0"/>
          <p:nvPr/>
        </p:nvPicPr>
        <p:blipFill rotWithShape="1">
          <a:blip r:embed="rId5">
            <a:alphaModFix/>
          </a:blip>
          <a:srcRect b="0" l="0" r="0" t="0"/>
          <a:stretch/>
        </p:blipFill>
        <p:spPr>
          <a:xfrm>
            <a:off x="6992163" y="752261"/>
            <a:ext cx="171450" cy="171450"/>
          </a:xfrm>
          <a:prstGeom prst="rect">
            <a:avLst/>
          </a:prstGeom>
          <a:noFill/>
          <a:ln>
            <a:noFill/>
          </a:ln>
        </p:spPr>
      </p:pic>
      <p:sp>
        <p:nvSpPr>
          <p:cNvPr id="228" name="Google Shape;228;p19"/>
          <p:cNvSpPr txBox="1"/>
          <p:nvPr/>
        </p:nvSpPr>
        <p:spPr>
          <a:xfrm>
            <a:off x="11382375" y="542925"/>
            <a:ext cx="1714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1717A"/>
                </a:solidFill>
                <a:latin typeface="Space Grotesk"/>
                <a:ea typeface="Space Grotesk"/>
                <a:cs typeface="Space Grotesk"/>
                <a:sym typeface="Space Grotesk"/>
              </a:rPr>
              <a:t>7</a:t>
            </a:r>
            <a:endParaRPr/>
          </a:p>
        </p:txBody>
      </p:sp>
      <p:sp>
        <p:nvSpPr>
          <p:cNvPr id="229" name="Google Shape;229;p19"/>
          <p:cNvSpPr txBox="1"/>
          <p:nvPr/>
        </p:nvSpPr>
        <p:spPr>
          <a:xfrm>
            <a:off x="619125" y="381225"/>
            <a:ext cx="50214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1050">
                <a:solidFill>
                  <a:srgbClr val="2563EB"/>
                </a:solidFill>
                <a:latin typeface="Inter"/>
                <a:ea typeface="Inter"/>
                <a:cs typeface="Inter"/>
                <a:sym typeface="Inter"/>
              </a:rPr>
              <a:t>HYPOTHESES 1</a:t>
            </a:r>
            <a:endParaRPr/>
          </a:p>
        </p:txBody>
      </p:sp>
      <p:sp>
        <p:nvSpPr>
          <p:cNvPr id="230" name="Google Shape;230;p19"/>
          <p:cNvSpPr txBox="1"/>
          <p:nvPr/>
        </p:nvSpPr>
        <p:spPr>
          <a:xfrm>
            <a:off x="809663" y="5056211"/>
            <a:ext cx="4981500" cy="7893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1350">
                <a:solidFill>
                  <a:srgbClr val="52525B"/>
                </a:solidFill>
                <a:latin typeface="Inter"/>
                <a:ea typeface="Inter"/>
                <a:cs typeface="Inter"/>
                <a:sym typeface="Inter"/>
              </a:rPr>
              <a:t>Metro proximity has a very weak relationship with rental performance. Correlation strength is 0.05–0.08 across Occupancy, ADR, RevPAR and Revenue</a:t>
            </a:r>
            <a:endParaRPr sz="1350">
              <a:solidFill>
                <a:srgbClr val="52525B"/>
              </a:solidFill>
              <a:latin typeface="Inter"/>
              <a:ea typeface="Inter"/>
              <a:cs typeface="Inter"/>
              <a:sym typeface="Inter"/>
            </a:endParaRPr>
          </a:p>
        </p:txBody>
      </p:sp>
      <p:sp>
        <p:nvSpPr>
          <p:cNvPr id="231" name="Google Shape;231;p19"/>
          <p:cNvSpPr txBox="1"/>
          <p:nvPr/>
        </p:nvSpPr>
        <p:spPr>
          <a:xfrm>
            <a:off x="6400838" y="5056211"/>
            <a:ext cx="4981500" cy="7893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52525B"/>
                </a:solidFill>
                <a:latin typeface="Inter"/>
                <a:ea typeface="Inter"/>
                <a:cs typeface="Inter"/>
                <a:sym typeface="Inter"/>
              </a:rPr>
              <a:t>Point-of-interest counts within 1 km radius exhibit practically no direct statistical impact on financial </a:t>
            </a:r>
            <a:r>
              <a:rPr lang="en-US" sz="1350">
                <a:solidFill>
                  <a:srgbClr val="52525B"/>
                </a:solidFill>
                <a:latin typeface="Inter"/>
                <a:ea typeface="Inter"/>
                <a:cs typeface="Inter"/>
                <a:sym typeface="Inter"/>
              </a:rPr>
              <a:t>performance. Correlation strength is close to zero</a:t>
            </a:r>
            <a:endParaRPr/>
          </a:p>
        </p:txBody>
      </p:sp>
      <p:sp>
        <p:nvSpPr>
          <p:cNvPr id="232" name="Google Shape;232;p19"/>
          <p:cNvSpPr txBox="1"/>
          <p:nvPr/>
        </p:nvSpPr>
        <p:spPr>
          <a:xfrm>
            <a:off x="1890063" y="722486"/>
            <a:ext cx="32778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9090B"/>
                </a:solidFill>
                <a:latin typeface="Space Grotesk"/>
                <a:ea typeface="Space Grotesk"/>
                <a:cs typeface="Space Grotesk"/>
                <a:sym typeface="Space Grotesk"/>
              </a:rPr>
              <a:t>Metro Proximity</a:t>
            </a:r>
            <a:endParaRPr/>
          </a:p>
        </p:txBody>
      </p:sp>
      <p:sp>
        <p:nvSpPr>
          <p:cNvPr id="233" name="Google Shape;233;p19"/>
          <p:cNvSpPr txBox="1"/>
          <p:nvPr/>
        </p:nvSpPr>
        <p:spPr>
          <a:xfrm>
            <a:off x="7363638" y="722486"/>
            <a:ext cx="35130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9090B"/>
                </a:solidFill>
                <a:latin typeface="Space Grotesk"/>
                <a:ea typeface="Space Grotesk"/>
                <a:cs typeface="Space Grotesk"/>
                <a:sym typeface="Space Grotesk"/>
              </a:rPr>
              <a:t>Attraction Density</a:t>
            </a:r>
            <a:endParaRPr/>
          </a:p>
        </p:txBody>
      </p:sp>
      <p:pic>
        <p:nvPicPr>
          <p:cNvPr id="234" name="Google Shape;234;p19" title="metro.png"/>
          <p:cNvPicPr preferRelativeResize="0"/>
          <p:nvPr/>
        </p:nvPicPr>
        <p:blipFill>
          <a:blip r:embed="rId6">
            <a:alphaModFix/>
          </a:blip>
          <a:stretch>
            <a:fillRect/>
          </a:stretch>
        </p:blipFill>
        <p:spPr>
          <a:xfrm>
            <a:off x="137699" y="1313600"/>
            <a:ext cx="5502825" cy="3382463"/>
          </a:xfrm>
          <a:prstGeom prst="rect">
            <a:avLst/>
          </a:prstGeom>
          <a:noFill/>
          <a:ln>
            <a:noFill/>
          </a:ln>
        </p:spPr>
      </p:pic>
      <p:pic>
        <p:nvPicPr>
          <p:cNvPr id="235" name="Google Shape;235;p19" title="attractions.png"/>
          <p:cNvPicPr preferRelativeResize="0"/>
          <p:nvPr/>
        </p:nvPicPr>
        <p:blipFill>
          <a:blip r:embed="rId7">
            <a:alphaModFix/>
          </a:blip>
          <a:stretch>
            <a:fillRect/>
          </a:stretch>
        </p:blipFill>
        <p:spPr>
          <a:xfrm>
            <a:off x="5778224" y="1313600"/>
            <a:ext cx="5502825" cy="33824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20"/>
          <p:cNvSpPr/>
          <p:nvPr/>
        </p:nvSpPr>
        <p:spPr>
          <a:xfrm>
            <a:off x="619125" y="5789297"/>
            <a:ext cx="10953900" cy="860700"/>
          </a:xfrm>
          <a:prstGeom prst="rect">
            <a:avLst/>
          </a:prstGeom>
          <a:solidFill>
            <a:srgbClr val="EFF6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20"/>
          <p:cNvSpPr/>
          <p:nvPr/>
        </p:nvSpPr>
        <p:spPr>
          <a:xfrm>
            <a:off x="619125" y="5789297"/>
            <a:ext cx="38100" cy="8607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20"/>
          <p:cNvSpPr txBox="1"/>
          <p:nvPr/>
        </p:nvSpPr>
        <p:spPr>
          <a:xfrm>
            <a:off x="619125" y="504825"/>
            <a:ext cx="50409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1050">
                <a:solidFill>
                  <a:srgbClr val="2563EB"/>
                </a:solidFill>
                <a:latin typeface="Inter"/>
                <a:ea typeface="Inter"/>
                <a:cs typeface="Inter"/>
                <a:sym typeface="Inter"/>
              </a:rPr>
              <a:t>HYPOTHESES 2</a:t>
            </a:r>
            <a:endParaRPr b="1" sz="1050">
              <a:solidFill>
                <a:srgbClr val="2563EB"/>
              </a:solidFill>
              <a:latin typeface="Inter"/>
              <a:ea typeface="Inter"/>
              <a:cs typeface="Inter"/>
              <a:sym typeface="Inter"/>
            </a:endParaRPr>
          </a:p>
        </p:txBody>
      </p:sp>
      <p:sp>
        <p:nvSpPr>
          <p:cNvPr id="243" name="Google Shape;243;p20"/>
          <p:cNvSpPr txBox="1"/>
          <p:nvPr/>
        </p:nvSpPr>
        <p:spPr>
          <a:xfrm>
            <a:off x="619125" y="723900"/>
            <a:ext cx="52929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400" u="none" cap="none" strike="noStrike">
                <a:solidFill>
                  <a:srgbClr val="09090B"/>
                </a:solidFill>
                <a:latin typeface="Space Grotesk"/>
                <a:ea typeface="Space Grotesk"/>
                <a:cs typeface="Space Grotesk"/>
                <a:sym typeface="Space Grotesk"/>
              </a:rPr>
              <a:t>ADR ↑ = Occupancy ↓ ?</a:t>
            </a:r>
            <a:endParaRPr/>
          </a:p>
        </p:txBody>
      </p:sp>
      <p:sp>
        <p:nvSpPr>
          <p:cNvPr id="244" name="Google Shape;244;p20"/>
          <p:cNvSpPr txBox="1"/>
          <p:nvPr/>
        </p:nvSpPr>
        <p:spPr>
          <a:xfrm>
            <a:off x="885825" y="5979797"/>
            <a:ext cx="105537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lang="en-US" sz="1350">
                <a:solidFill>
                  <a:srgbClr val="1E3A8A"/>
                </a:solidFill>
                <a:latin typeface="Inter"/>
                <a:ea typeface="Inter"/>
                <a:cs typeface="Inter"/>
                <a:sym typeface="Inter"/>
              </a:rPr>
              <a:t>Across both comparable samples, higher ADR is not consistently associated with lower occupancy. Most correlations are weak, close to zero, or positive.</a:t>
            </a:r>
            <a:endParaRPr sz="1350">
              <a:solidFill>
                <a:srgbClr val="1E3A8A"/>
              </a:solidFill>
              <a:latin typeface="Inter"/>
              <a:ea typeface="Inter"/>
              <a:cs typeface="Inter"/>
              <a:sym typeface="Inter"/>
            </a:endParaRPr>
          </a:p>
        </p:txBody>
      </p:sp>
      <p:sp>
        <p:nvSpPr>
          <p:cNvPr id="245" name="Google Shape;245;p20"/>
          <p:cNvSpPr txBox="1"/>
          <p:nvPr/>
        </p:nvSpPr>
        <p:spPr>
          <a:xfrm>
            <a:off x="5593425" y="804600"/>
            <a:ext cx="59796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For similar listings, higher price is associated with lower occupancy.</a:t>
            </a:r>
            <a:endParaRPr/>
          </a:p>
        </p:txBody>
      </p:sp>
      <p:grpSp>
        <p:nvGrpSpPr>
          <p:cNvPr id="246" name="Google Shape;246;p20"/>
          <p:cNvGrpSpPr/>
          <p:nvPr/>
        </p:nvGrpSpPr>
        <p:grpSpPr>
          <a:xfrm>
            <a:off x="7348413" y="2444281"/>
            <a:ext cx="4224600" cy="2097000"/>
            <a:chOff x="7354363" y="2380500"/>
            <a:chExt cx="4224600" cy="2097000"/>
          </a:xfrm>
        </p:grpSpPr>
        <p:sp>
          <p:nvSpPr>
            <p:cNvPr id="247" name="Google Shape;247;p20"/>
            <p:cNvSpPr/>
            <p:nvPr/>
          </p:nvSpPr>
          <p:spPr>
            <a:xfrm>
              <a:off x="7354363" y="2380500"/>
              <a:ext cx="4224600" cy="2097000"/>
            </a:xfrm>
            <a:prstGeom prst="roundRect">
              <a:avLst>
                <a:gd fmla="val 6299"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20"/>
            <p:cNvSpPr txBox="1"/>
            <p:nvPr/>
          </p:nvSpPr>
          <p:spPr>
            <a:xfrm>
              <a:off x="7592495" y="2618625"/>
              <a:ext cx="38469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9090B"/>
                  </a:solidFill>
                  <a:latin typeface="Space Grotesk"/>
                  <a:ea typeface="Space Grotesk"/>
                  <a:cs typeface="Space Grotesk"/>
                  <a:sym typeface="Space Grotesk"/>
                </a:rPr>
                <a:t>Controlled Sample Definition (370 Unique Listings)</a:t>
              </a:r>
              <a:endParaRPr/>
            </a:p>
          </p:txBody>
        </p:sp>
        <p:sp>
          <p:nvSpPr>
            <p:cNvPr id="249" name="Google Shape;249;p20"/>
            <p:cNvSpPr txBox="1"/>
            <p:nvPr/>
          </p:nvSpPr>
          <p:spPr>
            <a:xfrm>
              <a:off x="7592495" y="3003675"/>
              <a:ext cx="37731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52525B"/>
                  </a:solidFill>
                  <a:latin typeface="Inter"/>
                  <a:ea typeface="Inter"/>
                  <a:cs typeface="Inter"/>
                  <a:sym typeface="Inter"/>
                </a:rPr>
                <a:t>Group 1 (169 listings):</a:t>
              </a:r>
              <a:r>
                <a:rPr b="0" i="0" lang="en-US" sz="1200" u="none" cap="none" strike="noStrike">
                  <a:solidFill>
                    <a:srgbClr val="52525B"/>
                  </a:solidFill>
                  <a:latin typeface="Inter"/>
                  <a:ea typeface="Inter"/>
                  <a:cs typeface="Inter"/>
                  <a:sym typeface="Inter"/>
                </a:rPr>
                <a:t> 	Entire homes </a:t>
              </a:r>
              <a:endParaRPr b="0" i="0" sz="1200" u="none" cap="none" strike="noStrike">
                <a:solidFill>
                  <a:srgbClr val="52525B"/>
                </a:solidFill>
                <a:latin typeface="Inter"/>
                <a:ea typeface="Inter"/>
                <a:cs typeface="Inter"/>
                <a:sym typeface="Inter"/>
              </a:endParaRPr>
            </a:p>
            <a:p>
              <a:pPr indent="0" lvl="0" marL="1828800" marR="0" rtl="0" algn="l">
                <a:spcBef>
                  <a:spcPts val="0"/>
                </a:spcBef>
                <a:spcAft>
                  <a:spcPts val="0"/>
                </a:spcAft>
                <a:buNone/>
              </a:pPr>
              <a:r>
                <a:rPr b="0" i="0" lang="en-US" sz="1200" u="none" cap="none" strike="noStrike">
                  <a:solidFill>
                    <a:srgbClr val="52525B"/>
                  </a:solidFill>
                  <a:latin typeface="Inter"/>
                  <a:ea typeface="Inter"/>
                  <a:cs typeface="Inter"/>
                  <a:sym typeface="Inter"/>
                </a:rPr>
                <a:t>2 bedrooms </a:t>
              </a:r>
              <a:endParaRPr b="0" i="0" sz="1200" u="none" cap="none" strike="noStrike">
                <a:solidFill>
                  <a:srgbClr val="52525B"/>
                </a:solidFill>
                <a:latin typeface="Inter"/>
                <a:ea typeface="Inter"/>
                <a:cs typeface="Inter"/>
                <a:sym typeface="Inter"/>
              </a:endParaRPr>
            </a:p>
            <a:p>
              <a:pPr indent="0" lvl="0" marL="1828800" marR="0" rtl="0" algn="l">
                <a:spcBef>
                  <a:spcPts val="0"/>
                </a:spcBef>
                <a:spcAft>
                  <a:spcPts val="0"/>
                </a:spcAft>
                <a:buNone/>
              </a:pPr>
              <a:r>
                <a:rPr b="0" i="0" lang="en-US" sz="1200" u="none" cap="none" strike="noStrike">
                  <a:solidFill>
                    <a:srgbClr val="52525B"/>
                  </a:solidFill>
                  <a:latin typeface="Inter"/>
                  <a:ea typeface="Inter"/>
                  <a:cs typeface="Inter"/>
                  <a:sym typeface="Inter"/>
                </a:rPr>
                <a:t>top 5 districts</a:t>
              </a:r>
              <a:endParaRPr/>
            </a:p>
          </p:txBody>
        </p:sp>
        <p:sp>
          <p:nvSpPr>
            <p:cNvPr id="250" name="Google Shape;250;p20"/>
            <p:cNvSpPr txBox="1"/>
            <p:nvPr/>
          </p:nvSpPr>
          <p:spPr>
            <a:xfrm>
              <a:off x="7592495" y="3758025"/>
              <a:ext cx="36705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52525B"/>
                  </a:solidFill>
                  <a:latin typeface="Inter"/>
                  <a:ea typeface="Inter"/>
                  <a:cs typeface="Inter"/>
                  <a:sym typeface="Inter"/>
                </a:rPr>
                <a:t>Group 2 (201 listings):</a:t>
              </a:r>
              <a:r>
                <a:rPr b="0" i="0" lang="en-US" sz="1200" u="none" cap="none" strike="noStrike">
                  <a:solidFill>
                    <a:srgbClr val="52525B"/>
                  </a:solidFill>
                  <a:latin typeface="Inter"/>
                  <a:ea typeface="Inter"/>
                  <a:cs typeface="Inter"/>
                  <a:sym typeface="Inter"/>
                </a:rPr>
                <a:t> 	Private rooms, </a:t>
              </a:r>
              <a:endParaRPr b="0" i="0" sz="1200" u="none" cap="none" strike="noStrike">
                <a:solidFill>
                  <a:srgbClr val="52525B"/>
                </a:solidFill>
                <a:latin typeface="Inter"/>
                <a:ea typeface="Inter"/>
                <a:cs typeface="Inter"/>
                <a:sym typeface="Inter"/>
              </a:endParaRPr>
            </a:p>
            <a:p>
              <a:pPr indent="0" lvl="0" marL="1828800" marR="0" rtl="0" algn="l">
                <a:spcBef>
                  <a:spcPts val="0"/>
                </a:spcBef>
                <a:spcAft>
                  <a:spcPts val="0"/>
                </a:spcAft>
                <a:buNone/>
              </a:pPr>
              <a:r>
                <a:rPr b="0" i="0" lang="en-US" sz="1200" u="none" cap="none" strike="noStrike">
                  <a:solidFill>
                    <a:srgbClr val="52525B"/>
                  </a:solidFill>
                  <a:latin typeface="Inter"/>
                  <a:ea typeface="Inter"/>
                  <a:cs typeface="Inter"/>
                  <a:sym typeface="Inter"/>
                </a:rPr>
                <a:t>1 bedroom </a:t>
              </a:r>
              <a:endParaRPr b="0" i="0" sz="1200" u="none" cap="none" strike="noStrike">
                <a:solidFill>
                  <a:srgbClr val="52525B"/>
                </a:solidFill>
                <a:latin typeface="Inter"/>
                <a:ea typeface="Inter"/>
                <a:cs typeface="Inter"/>
                <a:sym typeface="Inter"/>
              </a:endParaRPr>
            </a:p>
            <a:p>
              <a:pPr indent="0" lvl="0" marL="1828800" marR="0" rtl="0" algn="l">
                <a:spcBef>
                  <a:spcPts val="0"/>
                </a:spcBef>
                <a:spcAft>
                  <a:spcPts val="0"/>
                </a:spcAft>
                <a:buNone/>
              </a:pPr>
              <a:r>
                <a:rPr b="0" i="0" lang="en-US" sz="1200" u="none" cap="none" strike="noStrike">
                  <a:solidFill>
                    <a:srgbClr val="52525B"/>
                  </a:solidFill>
                  <a:latin typeface="Inter"/>
                  <a:ea typeface="Inter"/>
                  <a:cs typeface="Inter"/>
                  <a:sym typeface="Inter"/>
                </a:rPr>
                <a:t>top 5 districts</a:t>
              </a:r>
              <a:endParaRPr/>
            </a:p>
          </p:txBody>
        </p:sp>
      </p:grpSp>
      <p:pic>
        <p:nvPicPr>
          <p:cNvPr id="251" name="Google Shape;251;p20" title="h2.png"/>
          <p:cNvPicPr preferRelativeResize="0"/>
          <p:nvPr/>
        </p:nvPicPr>
        <p:blipFill>
          <a:blip r:embed="rId3">
            <a:alphaModFix/>
          </a:blip>
          <a:stretch>
            <a:fillRect/>
          </a:stretch>
        </p:blipFill>
        <p:spPr>
          <a:xfrm>
            <a:off x="410327" y="1196262"/>
            <a:ext cx="6464560" cy="45930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21"/>
          <p:cNvSpPr/>
          <p:nvPr/>
        </p:nvSpPr>
        <p:spPr>
          <a:xfrm>
            <a:off x="11258550" y="504825"/>
            <a:ext cx="314325" cy="247650"/>
          </a:xfrm>
          <a:prstGeom prst="roundRect">
            <a:avLst>
              <a:gd fmla="val 15384" name="adj"/>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21"/>
          <p:cNvSpPr/>
          <p:nvPr/>
        </p:nvSpPr>
        <p:spPr>
          <a:xfrm>
            <a:off x="7064050" y="1888075"/>
            <a:ext cx="4390500" cy="766800"/>
          </a:xfrm>
          <a:prstGeom prst="roundRect">
            <a:avLst>
              <a:gd fmla="val 8888" name="adj"/>
            </a:avLst>
          </a:prstGeom>
          <a:solidFill>
            <a:srgbClr val="FAFAFA"/>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431" u="none" cap="none" strike="noStrike">
              <a:solidFill>
                <a:schemeClr val="dk1"/>
              </a:solidFill>
              <a:latin typeface="Calibri"/>
              <a:ea typeface="Calibri"/>
              <a:cs typeface="Calibri"/>
              <a:sym typeface="Calibri"/>
            </a:endParaRPr>
          </a:p>
        </p:txBody>
      </p:sp>
      <p:sp>
        <p:nvSpPr>
          <p:cNvPr id="258" name="Google Shape;258;p21"/>
          <p:cNvSpPr/>
          <p:nvPr/>
        </p:nvSpPr>
        <p:spPr>
          <a:xfrm>
            <a:off x="7064050" y="2756908"/>
            <a:ext cx="4390500" cy="766800"/>
          </a:xfrm>
          <a:prstGeom prst="roundRect">
            <a:avLst>
              <a:gd fmla="val 8888" name="adj"/>
            </a:avLst>
          </a:prstGeom>
          <a:solidFill>
            <a:srgbClr val="FAFAFA"/>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431" u="none" cap="none" strike="noStrike">
              <a:solidFill>
                <a:schemeClr val="dk1"/>
              </a:solidFill>
              <a:latin typeface="Calibri"/>
              <a:ea typeface="Calibri"/>
              <a:cs typeface="Calibri"/>
              <a:sym typeface="Calibri"/>
            </a:endParaRPr>
          </a:p>
        </p:txBody>
      </p:sp>
      <p:sp>
        <p:nvSpPr>
          <p:cNvPr id="259" name="Google Shape;259;p21"/>
          <p:cNvSpPr/>
          <p:nvPr/>
        </p:nvSpPr>
        <p:spPr>
          <a:xfrm>
            <a:off x="7064050" y="3625741"/>
            <a:ext cx="4390500" cy="766800"/>
          </a:xfrm>
          <a:prstGeom prst="roundRect">
            <a:avLst>
              <a:gd fmla="val 8888" name="adj"/>
            </a:avLst>
          </a:prstGeom>
          <a:solidFill>
            <a:srgbClr val="FAFAFA"/>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431" u="none" cap="none" strike="noStrike">
              <a:solidFill>
                <a:schemeClr val="dk1"/>
              </a:solidFill>
              <a:latin typeface="Calibri"/>
              <a:ea typeface="Calibri"/>
              <a:cs typeface="Calibri"/>
              <a:sym typeface="Calibri"/>
            </a:endParaRPr>
          </a:p>
        </p:txBody>
      </p:sp>
      <p:sp>
        <p:nvSpPr>
          <p:cNvPr id="260" name="Google Shape;260;p21"/>
          <p:cNvSpPr/>
          <p:nvPr/>
        </p:nvSpPr>
        <p:spPr>
          <a:xfrm>
            <a:off x="7064050" y="4494573"/>
            <a:ext cx="4390500" cy="766800"/>
          </a:xfrm>
          <a:prstGeom prst="roundRect">
            <a:avLst>
              <a:gd fmla="val 8888" name="adj"/>
            </a:avLst>
          </a:prstGeom>
          <a:solidFill>
            <a:srgbClr val="FAFAFA"/>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431" u="none" cap="none" strike="noStrike">
              <a:solidFill>
                <a:schemeClr val="dk1"/>
              </a:solidFill>
              <a:latin typeface="Calibri"/>
              <a:ea typeface="Calibri"/>
              <a:cs typeface="Calibri"/>
              <a:sym typeface="Calibri"/>
            </a:endParaRPr>
          </a:p>
        </p:txBody>
      </p:sp>
      <p:sp>
        <p:nvSpPr>
          <p:cNvPr id="261" name="Google Shape;261;p21"/>
          <p:cNvSpPr/>
          <p:nvPr/>
        </p:nvSpPr>
        <p:spPr>
          <a:xfrm>
            <a:off x="7064050" y="2646174"/>
            <a:ext cx="4390500" cy="8700"/>
          </a:xfrm>
          <a:prstGeom prst="rect">
            <a:avLst/>
          </a:prstGeom>
          <a:solidFill>
            <a:srgbClr val="F4F4F5"/>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431" u="none" cap="none" strike="noStrike">
              <a:solidFill>
                <a:schemeClr val="dk1"/>
              </a:solidFill>
              <a:latin typeface="Calibri"/>
              <a:ea typeface="Calibri"/>
              <a:cs typeface="Calibri"/>
              <a:sym typeface="Calibri"/>
            </a:endParaRPr>
          </a:p>
        </p:txBody>
      </p:sp>
      <p:sp>
        <p:nvSpPr>
          <p:cNvPr id="262" name="Google Shape;262;p21"/>
          <p:cNvSpPr/>
          <p:nvPr/>
        </p:nvSpPr>
        <p:spPr>
          <a:xfrm>
            <a:off x="7064050" y="1888075"/>
            <a:ext cx="4390500" cy="8700"/>
          </a:xfrm>
          <a:prstGeom prst="rect">
            <a:avLst/>
          </a:prstGeom>
          <a:solidFill>
            <a:srgbClr val="F4F4F5"/>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431" u="none" cap="none" strike="noStrike">
              <a:solidFill>
                <a:schemeClr val="dk1"/>
              </a:solidFill>
              <a:latin typeface="Calibri"/>
              <a:ea typeface="Calibri"/>
              <a:cs typeface="Calibri"/>
              <a:sym typeface="Calibri"/>
            </a:endParaRPr>
          </a:p>
        </p:txBody>
      </p:sp>
      <p:sp>
        <p:nvSpPr>
          <p:cNvPr id="263" name="Google Shape;263;p21"/>
          <p:cNvSpPr/>
          <p:nvPr/>
        </p:nvSpPr>
        <p:spPr>
          <a:xfrm>
            <a:off x="7064050" y="1888075"/>
            <a:ext cx="31200" cy="766800"/>
          </a:xfrm>
          <a:prstGeom prst="rect">
            <a:avLst/>
          </a:prstGeom>
          <a:solidFill>
            <a:srgbClr val="2563EB"/>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610" u="none" cap="none" strike="noStrike">
              <a:solidFill>
                <a:schemeClr val="dk1"/>
              </a:solidFill>
              <a:latin typeface="Calibri"/>
              <a:ea typeface="Calibri"/>
              <a:cs typeface="Calibri"/>
              <a:sym typeface="Calibri"/>
            </a:endParaRPr>
          </a:p>
        </p:txBody>
      </p:sp>
      <p:sp>
        <p:nvSpPr>
          <p:cNvPr id="264" name="Google Shape;264;p21"/>
          <p:cNvSpPr/>
          <p:nvPr/>
        </p:nvSpPr>
        <p:spPr>
          <a:xfrm>
            <a:off x="11925100" y="1746870"/>
            <a:ext cx="9600" cy="857400"/>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21"/>
          <p:cNvSpPr/>
          <p:nvPr/>
        </p:nvSpPr>
        <p:spPr>
          <a:xfrm>
            <a:off x="7064050" y="3515007"/>
            <a:ext cx="4390500" cy="8700"/>
          </a:xfrm>
          <a:prstGeom prst="rect">
            <a:avLst/>
          </a:prstGeom>
          <a:solidFill>
            <a:srgbClr val="F4F4F5"/>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431" u="none" cap="none" strike="noStrike">
              <a:solidFill>
                <a:schemeClr val="dk1"/>
              </a:solidFill>
              <a:latin typeface="Calibri"/>
              <a:ea typeface="Calibri"/>
              <a:cs typeface="Calibri"/>
              <a:sym typeface="Calibri"/>
            </a:endParaRPr>
          </a:p>
        </p:txBody>
      </p:sp>
      <p:sp>
        <p:nvSpPr>
          <p:cNvPr id="266" name="Google Shape;266;p21"/>
          <p:cNvSpPr/>
          <p:nvPr/>
        </p:nvSpPr>
        <p:spPr>
          <a:xfrm>
            <a:off x="7064050" y="2756908"/>
            <a:ext cx="4390500" cy="8700"/>
          </a:xfrm>
          <a:prstGeom prst="rect">
            <a:avLst/>
          </a:prstGeom>
          <a:solidFill>
            <a:srgbClr val="F4F4F5"/>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431" u="none" cap="none" strike="noStrike">
              <a:solidFill>
                <a:schemeClr val="dk1"/>
              </a:solidFill>
              <a:latin typeface="Calibri"/>
              <a:ea typeface="Calibri"/>
              <a:cs typeface="Calibri"/>
              <a:sym typeface="Calibri"/>
            </a:endParaRPr>
          </a:p>
        </p:txBody>
      </p:sp>
      <p:sp>
        <p:nvSpPr>
          <p:cNvPr id="267" name="Google Shape;267;p21"/>
          <p:cNvSpPr/>
          <p:nvPr/>
        </p:nvSpPr>
        <p:spPr>
          <a:xfrm>
            <a:off x="7064050" y="2756908"/>
            <a:ext cx="31200" cy="766800"/>
          </a:xfrm>
          <a:prstGeom prst="rect">
            <a:avLst/>
          </a:prstGeom>
          <a:solidFill>
            <a:srgbClr val="3B82F6"/>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610" u="none" cap="none" strike="noStrike">
              <a:solidFill>
                <a:schemeClr val="dk1"/>
              </a:solidFill>
              <a:latin typeface="Calibri"/>
              <a:ea typeface="Calibri"/>
              <a:cs typeface="Calibri"/>
              <a:sym typeface="Calibri"/>
            </a:endParaRPr>
          </a:p>
        </p:txBody>
      </p:sp>
      <p:sp>
        <p:nvSpPr>
          <p:cNvPr id="268" name="Google Shape;268;p21"/>
          <p:cNvSpPr/>
          <p:nvPr/>
        </p:nvSpPr>
        <p:spPr>
          <a:xfrm>
            <a:off x="11925100" y="2718420"/>
            <a:ext cx="9600" cy="857400"/>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21"/>
          <p:cNvSpPr/>
          <p:nvPr/>
        </p:nvSpPr>
        <p:spPr>
          <a:xfrm>
            <a:off x="7064050" y="4383840"/>
            <a:ext cx="4390500" cy="8700"/>
          </a:xfrm>
          <a:prstGeom prst="rect">
            <a:avLst/>
          </a:prstGeom>
          <a:solidFill>
            <a:srgbClr val="F4F4F5"/>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431" u="none" cap="none" strike="noStrike">
              <a:solidFill>
                <a:schemeClr val="dk1"/>
              </a:solidFill>
              <a:latin typeface="Calibri"/>
              <a:ea typeface="Calibri"/>
              <a:cs typeface="Calibri"/>
              <a:sym typeface="Calibri"/>
            </a:endParaRPr>
          </a:p>
        </p:txBody>
      </p:sp>
      <p:sp>
        <p:nvSpPr>
          <p:cNvPr id="270" name="Google Shape;270;p21"/>
          <p:cNvSpPr/>
          <p:nvPr/>
        </p:nvSpPr>
        <p:spPr>
          <a:xfrm>
            <a:off x="7064050" y="3625741"/>
            <a:ext cx="4390500" cy="8700"/>
          </a:xfrm>
          <a:prstGeom prst="rect">
            <a:avLst/>
          </a:prstGeom>
          <a:solidFill>
            <a:srgbClr val="F4F4F5"/>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431" u="none" cap="none" strike="noStrike">
              <a:solidFill>
                <a:schemeClr val="dk1"/>
              </a:solidFill>
              <a:latin typeface="Calibri"/>
              <a:ea typeface="Calibri"/>
              <a:cs typeface="Calibri"/>
              <a:sym typeface="Calibri"/>
            </a:endParaRPr>
          </a:p>
        </p:txBody>
      </p:sp>
      <p:sp>
        <p:nvSpPr>
          <p:cNvPr id="271" name="Google Shape;271;p21"/>
          <p:cNvSpPr/>
          <p:nvPr/>
        </p:nvSpPr>
        <p:spPr>
          <a:xfrm>
            <a:off x="7064050" y="3625741"/>
            <a:ext cx="31200" cy="766800"/>
          </a:xfrm>
          <a:prstGeom prst="rect">
            <a:avLst/>
          </a:prstGeom>
          <a:solidFill>
            <a:srgbClr val="94A3B8"/>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610" u="none" cap="none" strike="noStrike">
              <a:solidFill>
                <a:schemeClr val="dk1"/>
              </a:solidFill>
              <a:latin typeface="Calibri"/>
              <a:ea typeface="Calibri"/>
              <a:cs typeface="Calibri"/>
              <a:sym typeface="Calibri"/>
            </a:endParaRPr>
          </a:p>
        </p:txBody>
      </p:sp>
      <p:sp>
        <p:nvSpPr>
          <p:cNvPr id="272" name="Google Shape;272;p21"/>
          <p:cNvSpPr/>
          <p:nvPr/>
        </p:nvSpPr>
        <p:spPr>
          <a:xfrm>
            <a:off x="11925100" y="3689970"/>
            <a:ext cx="9600" cy="857400"/>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21"/>
          <p:cNvSpPr/>
          <p:nvPr/>
        </p:nvSpPr>
        <p:spPr>
          <a:xfrm>
            <a:off x="7064050" y="5252672"/>
            <a:ext cx="4390500" cy="8700"/>
          </a:xfrm>
          <a:prstGeom prst="rect">
            <a:avLst/>
          </a:prstGeom>
          <a:solidFill>
            <a:srgbClr val="F4F4F5"/>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431" u="none" cap="none" strike="noStrike">
              <a:solidFill>
                <a:schemeClr val="dk1"/>
              </a:solidFill>
              <a:latin typeface="Calibri"/>
              <a:ea typeface="Calibri"/>
              <a:cs typeface="Calibri"/>
              <a:sym typeface="Calibri"/>
            </a:endParaRPr>
          </a:p>
        </p:txBody>
      </p:sp>
      <p:sp>
        <p:nvSpPr>
          <p:cNvPr id="274" name="Google Shape;274;p21"/>
          <p:cNvSpPr/>
          <p:nvPr/>
        </p:nvSpPr>
        <p:spPr>
          <a:xfrm>
            <a:off x="7064050" y="4494573"/>
            <a:ext cx="4390500" cy="8700"/>
          </a:xfrm>
          <a:prstGeom prst="rect">
            <a:avLst/>
          </a:prstGeom>
          <a:solidFill>
            <a:srgbClr val="F4F4F5"/>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431" u="none" cap="none" strike="noStrike">
              <a:solidFill>
                <a:schemeClr val="dk1"/>
              </a:solidFill>
              <a:latin typeface="Calibri"/>
              <a:ea typeface="Calibri"/>
              <a:cs typeface="Calibri"/>
              <a:sym typeface="Calibri"/>
            </a:endParaRPr>
          </a:p>
        </p:txBody>
      </p:sp>
      <p:sp>
        <p:nvSpPr>
          <p:cNvPr id="275" name="Google Shape;275;p21"/>
          <p:cNvSpPr/>
          <p:nvPr/>
        </p:nvSpPr>
        <p:spPr>
          <a:xfrm>
            <a:off x="7064050" y="4494573"/>
            <a:ext cx="31200" cy="766800"/>
          </a:xfrm>
          <a:prstGeom prst="rect">
            <a:avLst/>
          </a:prstGeom>
          <a:solidFill>
            <a:srgbClr val="CBD5E1"/>
          </a:solidFill>
          <a:ln>
            <a:noFill/>
          </a:ln>
        </p:spPr>
        <p:txBody>
          <a:bodyPr anchorCtr="0" anchor="ctr" bIns="40875" lIns="81750" spcFirstLastPara="1" rIns="81750" wrap="square" tIns="40875">
            <a:noAutofit/>
          </a:bodyPr>
          <a:lstStyle/>
          <a:p>
            <a:pPr indent="0" lvl="0" marL="0" marR="0" rtl="0" algn="ctr">
              <a:spcBef>
                <a:spcPts val="0"/>
              </a:spcBef>
              <a:spcAft>
                <a:spcPts val="0"/>
              </a:spcAft>
              <a:buNone/>
            </a:pPr>
            <a:r>
              <a:t/>
            </a:r>
            <a:endParaRPr b="0" i="0" sz="1610" u="none" cap="none" strike="noStrike">
              <a:solidFill>
                <a:schemeClr val="dk1"/>
              </a:solidFill>
              <a:latin typeface="Calibri"/>
              <a:ea typeface="Calibri"/>
              <a:cs typeface="Calibri"/>
              <a:sym typeface="Calibri"/>
            </a:endParaRPr>
          </a:p>
        </p:txBody>
      </p:sp>
      <p:sp>
        <p:nvSpPr>
          <p:cNvPr id="276" name="Google Shape;276;p21"/>
          <p:cNvSpPr/>
          <p:nvPr/>
        </p:nvSpPr>
        <p:spPr>
          <a:xfrm>
            <a:off x="11925100" y="4661520"/>
            <a:ext cx="9600" cy="857400"/>
          </a:xfrm>
          <a:prstGeom prst="rect">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21"/>
          <p:cNvSpPr txBox="1"/>
          <p:nvPr/>
        </p:nvSpPr>
        <p:spPr>
          <a:xfrm>
            <a:off x="11372850" y="542925"/>
            <a:ext cx="1809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1717A"/>
                </a:solidFill>
                <a:latin typeface="Space Grotesk"/>
                <a:ea typeface="Space Grotesk"/>
                <a:cs typeface="Space Grotesk"/>
                <a:sym typeface="Space Grotesk"/>
              </a:rPr>
              <a:t>9</a:t>
            </a:r>
            <a:endParaRPr/>
          </a:p>
        </p:txBody>
      </p:sp>
      <p:sp>
        <p:nvSpPr>
          <p:cNvPr id="278" name="Google Shape;278;p21"/>
          <p:cNvSpPr txBox="1"/>
          <p:nvPr/>
        </p:nvSpPr>
        <p:spPr>
          <a:xfrm>
            <a:off x="619125" y="504825"/>
            <a:ext cx="64161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1050">
                <a:solidFill>
                  <a:srgbClr val="2563EB"/>
                </a:solidFill>
                <a:latin typeface="Inter"/>
                <a:ea typeface="Inter"/>
                <a:cs typeface="Inter"/>
                <a:sym typeface="Inter"/>
              </a:rPr>
              <a:t>HYPOTHESES 3</a:t>
            </a:r>
            <a:endParaRPr b="1" sz="1050">
              <a:solidFill>
                <a:srgbClr val="2563EB"/>
              </a:solidFill>
              <a:latin typeface="Inter"/>
              <a:ea typeface="Inter"/>
              <a:cs typeface="Inter"/>
              <a:sym typeface="Inter"/>
            </a:endParaRPr>
          </a:p>
        </p:txBody>
      </p:sp>
      <p:sp>
        <p:nvSpPr>
          <p:cNvPr id="279" name="Google Shape;279;p21"/>
          <p:cNvSpPr txBox="1"/>
          <p:nvPr/>
        </p:nvSpPr>
        <p:spPr>
          <a:xfrm>
            <a:off x="619125" y="723900"/>
            <a:ext cx="67371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400" u="none" cap="none" strike="noStrike">
                <a:solidFill>
                  <a:srgbClr val="09090B"/>
                </a:solidFill>
                <a:latin typeface="Space Grotesk"/>
                <a:ea typeface="Space Grotesk"/>
                <a:cs typeface="Space Grotesk"/>
                <a:sym typeface="Space Grotesk"/>
              </a:rPr>
              <a:t>Weather, Tourism &amp; Occupancy</a:t>
            </a:r>
            <a:endParaRPr/>
          </a:p>
        </p:txBody>
      </p:sp>
      <p:sp>
        <p:nvSpPr>
          <p:cNvPr id="280" name="Google Shape;280;p21"/>
          <p:cNvSpPr txBox="1"/>
          <p:nvPr/>
        </p:nvSpPr>
        <p:spPr>
          <a:xfrm>
            <a:off x="10448551" y="2139356"/>
            <a:ext cx="1045500" cy="22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31" u="none" cap="none" strike="noStrike">
                <a:solidFill>
                  <a:srgbClr val="2563EB"/>
                </a:solidFill>
                <a:latin typeface="Space Grotesk"/>
                <a:ea typeface="Space Grotesk"/>
                <a:cs typeface="Space Grotesk"/>
                <a:sym typeface="Space Grotesk"/>
              </a:rPr>
              <a:t>r = 0.543</a:t>
            </a:r>
            <a:endParaRPr sz="1073"/>
          </a:p>
        </p:txBody>
      </p:sp>
      <p:sp>
        <p:nvSpPr>
          <p:cNvPr id="281" name="Google Shape;281;p21"/>
          <p:cNvSpPr txBox="1"/>
          <p:nvPr/>
        </p:nvSpPr>
        <p:spPr>
          <a:xfrm>
            <a:off x="10487542" y="3008188"/>
            <a:ext cx="1006200" cy="22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31" u="none" cap="none" strike="noStrike">
                <a:solidFill>
                  <a:srgbClr val="3B82F6"/>
                </a:solidFill>
                <a:latin typeface="Space Grotesk"/>
                <a:ea typeface="Space Grotesk"/>
                <a:cs typeface="Space Grotesk"/>
                <a:sym typeface="Space Grotesk"/>
              </a:rPr>
              <a:t>r = 0.518</a:t>
            </a:r>
            <a:endParaRPr sz="1073"/>
          </a:p>
        </p:txBody>
      </p:sp>
      <p:sp>
        <p:nvSpPr>
          <p:cNvPr id="282" name="Google Shape;282;p21"/>
          <p:cNvSpPr txBox="1"/>
          <p:nvPr/>
        </p:nvSpPr>
        <p:spPr>
          <a:xfrm>
            <a:off x="10409559" y="3877021"/>
            <a:ext cx="1083900" cy="22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31" u="none" cap="none" strike="noStrike">
                <a:solidFill>
                  <a:srgbClr val="64748B"/>
                </a:solidFill>
                <a:latin typeface="Space Grotesk"/>
                <a:ea typeface="Space Grotesk"/>
                <a:cs typeface="Space Grotesk"/>
                <a:sym typeface="Space Grotesk"/>
              </a:rPr>
              <a:t>r = -0.108</a:t>
            </a:r>
            <a:endParaRPr sz="1073"/>
          </a:p>
        </p:txBody>
      </p:sp>
      <p:sp>
        <p:nvSpPr>
          <p:cNvPr id="283" name="Google Shape;283;p21"/>
          <p:cNvSpPr txBox="1"/>
          <p:nvPr/>
        </p:nvSpPr>
        <p:spPr>
          <a:xfrm>
            <a:off x="10082026" y="4745854"/>
            <a:ext cx="1471800" cy="22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31" u="none" cap="none" strike="noStrike">
                <a:solidFill>
                  <a:srgbClr val="64748B"/>
                </a:solidFill>
                <a:latin typeface="Space Grotesk"/>
                <a:ea typeface="Space Grotesk"/>
                <a:cs typeface="Space Grotesk"/>
                <a:sym typeface="Space Grotesk"/>
              </a:rPr>
              <a:t>r = 0.05–0.18</a:t>
            </a:r>
            <a:endParaRPr sz="1073"/>
          </a:p>
        </p:txBody>
      </p:sp>
      <p:sp>
        <p:nvSpPr>
          <p:cNvPr id="284" name="Google Shape;284;p21"/>
          <p:cNvSpPr txBox="1"/>
          <p:nvPr/>
        </p:nvSpPr>
        <p:spPr>
          <a:xfrm>
            <a:off x="7282405" y="2101024"/>
            <a:ext cx="2067600" cy="18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7" u="none" cap="none" strike="noStrike">
                <a:solidFill>
                  <a:srgbClr val="09090B"/>
                </a:solidFill>
                <a:latin typeface="Space Grotesk"/>
                <a:ea typeface="Space Grotesk"/>
                <a:cs typeface="Space Grotesk"/>
                <a:sym typeface="Space Grotesk"/>
              </a:rPr>
              <a:t>Mean Temperature</a:t>
            </a:r>
            <a:endParaRPr sz="1252"/>
          </a:p>
        </p:txBody>
      </p:sp>
      <p:sp>
        <p:nvSpPr>
          <p:cNvPr id="285" name="Google Shape;285;p21"/>
          <p:cNvSpPr txBox="1"/>
          <p:nvPr/>
        </p:nvSpPr>
        <p:spPr>
          <a:xfrm>
            <a:off x="7282399" y="2296925"/>
            <a:ext cx="2516400" cy="144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39" u="none" cap="none" strike="noStrike">
                <a:solidFill>
                  <a:srgbClr val="64748B"/>
                </a:solidFill>
                <a:latin typeface="Inter"/>
                <a:ea typeface="Inter"/>
                <a:cs typeface="Inter"/>
                <a:sym typeface="Inter"/>
              </a:rPr>
              <a:t>Strongest </a:t>
            </a:r>
            <a:r>
              <a:rPr lang="en-US" sz="939">
                <a:solidFill>
                  <a:srgbClr val="64748B"/>
                </a:solidFill>
                <a:latin typeface="Inter"/>
                <a:ea typeface="Inter"/>
                <a:cs typeface="Inter"/>
                <a:sym typeface="Inter"/>
              </a:rPr>
              <a:t>correlation with occupancy</a:t>
            </a:r>
            <a:endParaRPr sz="1252"/>
          </a:p>
        </p:txBody>
      </p:sp>
      <p:sp>
        <p:nvSpPr>
          <p:cNvPr id="286" name="Google Shape;286;p21"/>
          <p:cNvSpPr txBox="1"/>
          <p:nvPr/>
        </p:nvSpPr>
        <p:spPr>
          <a:xfrm>
            <a:off x="7282405" y="2969857"/>
            <a:ext cx="2026800" cy="18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7" u="none" cap="none" strike="noStrike">
                <a:solidFill>
                  <a:srgbClr val="09090B"/>
                </a:solidFill>
                <a:latin typeface="Space Grotesk"/>
                <a:ea typeface="Space Grotesk"/>
                <a:cs typeface="Space Grotesk"/>
                <a:sym typeface="Space Grotesk"/>
              </a:rPr>
              <a:t>Sunshine Hours</a:t>
            </a:r>
            <a:endParaRPr sz="1252"/>
          </a:p>
        </p:txBody>
      </p:sp>
      <p:sp>
        <p:nvSpPr>
          <p:cNvPr id="287" name="Google Shape;287;p21"/>
          <p:cNvSpPr txBox="1"/>
          <p:nvPr/>
        </p:nvSpPr>
        <p:spPr>
          <a:xfrm>
            <a:off x="7282405" y="3165770"/>
            <a:ext cx="1929900" cy="144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39" u="none" cap="none" strike="noStrike">
                <a:solidFill>
                  <a:srgbClr val="64748B"/>
                </a:solidFill>
                <a:latin typeface="Inter"/>
                <a:ea typeface="Inter"/>
                <a:cs typeface="Inter"/>
                <a:sym typeface="Inter"/>
              </a:rPr>
              <a:t>Moderate positive relationship</a:t>
            </a:r>
            <a:endParaRPr sz="1252"/>
          </a:p>
        </p:txBody>
      </p:sp>
      <p:sp>
        <p:nvSpPr>
          <p:cNvPr id="288" name="Google Shape;288;p21"/>
          <p:cNvSpPr txBox="1"/>
          <p:nvPr/>
        </p:nvSpPr>
        <p:spPr>
          <a:xfrm>
            <a:off x="7282405" y="3838690"/>
            <a:ext cx="1709100" cy="18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7" u="none" cap="none" strike="noStrike">
                <a:solidFill>
                  <a:srgbClr val="09090B"/>
                </a:solidFill>
                <a:latin typeface="Space Grotesk"/>
                <a:ea typeface="Space Grotesk"/>
                <a:cs typeface="Space Grotesk"/>
                <a:sym typeface="Space Grotesk"/>
              </a:rPr>
              <a:t>Precipitation</a:t>
            </a:r>
            <a:endParaRPr sz="1252"/>
          </a:p>
        </p:txBody>
      </p:sp>
      <p:sp>
        <p:nvSpPr>
          <p:cNvPr id="289" name="Google Shape;289;p21"/>
          <p:cNvSpPr txBox="1"/>
          <p:nvPr/>
        </p:nvSpPr>
        <p:spPr>
          <a:xfrm>
            <a:off x="7282405" y="4034603"/>
            <a:ext cx="1627800" cy="144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39" u="none" cap="none" strike="noStrike">
                <a:solidFill>
                  <a:srgbClr val="64748B"/>
                </a:solidFill>
                <a:latin typeface="Inter"/>
                <a:ea typeface="Inter"/>
                <a:cs typeface="Inter"/>
                <a:sym typeface="Inter"/>
              </a:rPr>
              <a:t>Weak inverse relationship</a:t>
            </a:r>
            <a:endParaRPr sz="1252"/>
          </a:p>
        </p:txBody>
      </p:sp>
      <p:sp>
        <p:nvSpPr>
          <p:cNvPr id="290" name="Google Shape;290;p21"/>
          <p:cNvSpPr txBox="1"/>
          <p:nvPr/>
        </p:nvSpPr>
        <p:spPr>
          <a:xfrm>
            <a:off x="7282405" y="4707522"/>
            <a:ext cx="1822800" cy="18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7" u="none" cap="none" strike="noStrike">
                <a:solidFill>
                  <a:srgbClr val="09090B"/>
                </a:solidFill>
                <a:latin typeface="Space Grotesk"/>
                <a:ea typeface="Space Grotesk"/>
                <a:cs typeface="Space Grotesk"/>
                <a:sym typeface="Space Grotesk"/>
              </a:rPr>
              <a:t>INE Tourism Statistics</a:t>
            </a:r>
            <a:endParaRPr sz="1252"/>
          </a:p>
        </p:txBody>
      </p:sp>
      <p:sp>
        <p:nvSpPr>
          <p:cNvPr id="291" name="Google Shape;291;p21"/>
          <p:cNvSpPr txBox="1"/>
          <p:nvPr/>
        </p:nvSpPr>
        <p:spPr>
          <a:xfrm>
            <a:off x="7282398" y="4903425"/>
            <a:ext cx="2272800" cy="144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39">
                <a:solidFill>
                  <a:srgbClr val="64748B"/>
                </a:solidFill>
                <a:latin typeface="Inter"/>
                <a:ea typeface="Inter"/>
                <a:cs typeface="Inter"/>
                <a:sym typeface="Inter"/>
              </a:rPr>
              <a:t>Tourism indicators: travellers and nights</a:t>
            </a:r>
            <a:endParaRPr sz="1252"/>
          </a:p>
        </p:txBody>
      </p:sp>
      <p:pic>
        <p:nvPicPr>
          <p:cNvPr id="292" name="Google Shape;292;p21" title="sunshine_hours_vs_airbnb_occupancy.png"/>
          <p:cNvPicPr preferRelativeResize="0"/>
          <p:nvPr/>
        </p:nvPicPr>
        <p:blipFill>
          <a:blip r:embed="rId3">
            <a:alphaModFix/>
          </a:blip>
          <a:stretch>
            <a:fillRect/>
          </a:stretch>
        </p:blipFill>
        <p:spPr>
          <a:xfrm>
            <a:off x="783173" y="1683925"/>
            <a:ext cx="4709050" cy="3770576"/>
          </a:xfrm>
          <a:prstGeom prst="rect">
            <a:avLst/>
          </a:prstGeom>
          <a:noFill/>
          <a:ln>
            <a:noFill/>
          </a:ln>
        </p:spPr>
      </p:pic>
      <p:sp>
        <p:nvSpPr>
          <p:cNvPr id="293" name="Google Shape;293;p21"/>
          <p:cNvSpPr/>
          <p:nvPr/>
        </p:nvSpPr>
        <p:spPr>
          <a:xfrm>
            <a:off x="1626094" y="6064125"/>
            <a:ext cx="9647700" cy="503100"/>
          </a:xfrm>
          <a:prstGeom prst="rect">
            <a:avLst/>
          </a:prstGeom>
          <a:solidFill>
            <a:srgbClr val="EFF6FF"/>
          </a:solidFill>
          <a:ln>
            <a:noFill/>
          </a:ln>
        </p:spPr>
        <p:txBody>
          <a:bodyPr anchorCtr="0" anchor="ctr" bIns="40250" lIns="80525" spcFirstLastPara="1" rIns="80525" wrap="square" tIns="40250">
            <a:noAutofit/>
          </a:bodyPr>
          <a:lstStyle/>
          <a:p>
            <a:pPr indent="0" lvl="0" marL="0" marR="0" rtl="0" algn="ctr">
              <a:spcBef>
                <a:spcPts val="0"/>
              </a:spcBef>
              <a:spcAft>
                <a:spcPts val="0"/>
              </a:spcAft>
              <a:buNone/>
            </a:pPr>
            <a:r>
              <a:t/>
            </a:r>
            <a:endParaRPr b="0" i="0" sz="1409" u="none" cap="none" strike="noStrike">
              <a:solidFill>
                <a:schemeClr val="dk1"/>
              </a:solidFill>
              <a:latin typeface="Calibri"/>
              <a:ea typeface="Calibri"/>
              <a:cs typeface="Calibri"/>
              <a:sym typeface="Calibri"/>
            </a:endParaRPr>
          </a:p>
        </p:txBody>
      </p:sp>
      <p:sp>
        <p:nvSpPr>
          <p:cNvPr id="294" name="Google Shape;294;p21"/>
          <p:cNvSpPr/>
          <p:nvPr/>
        </p:nvSpPr>
        <p:spPr>
          <a:xfrm>
            <a:off x="1626094" y="6064125"/>
            <a:ext cx="33300" cy="503100"/>
          </a:xfrm>
          <a:prstGeom prst="rect">
            <a:avLst/>
          </a:prstGeom>
          <a:solidFill>
            <a:srgbClr val="2563EB"/>
          </a:solidFill>
          <a:ln>
            <a:noFill/>
          </a:ln>
        </p:spPr>
        <p:txBody>
          <a:bodyPr anchorCtr="0" anchor="ctr" bIns="40250" lIns="80525" spcFirstLastPara="1" rIns="80525" wrap="square" tIns="40250">
            <a:noAutofit/>
          </a:bodyPr>
          <a:lstStyle/>
          <a:p>
            <a:pPr indent="0" lvl="0" marL="0" marR="0" rtl="0" algn="ctr">
              <a:spcBef>
                <a:spcPts val="0"/>
              </a:spcBef>
              <a:spcAft>
                <a:spcPts val="0"/>
              </a:spcAft>
              <a:buNone/>
            </a:pPr>
            <a:r>
              <a:t/>
            </a:r>
            <a:endParaRPr b="0" i="0" sz="1585" u="none" cap="none" strike="noStrike">
              <a:solidFill>
                <a:schemeClr val="dk1"/>
              </a:solidFill>
              <a:latin typeface="Calibri"/>
              <a:ea typeface="Calibri"/>
              <a:cs typeface="Calibri"/>
              <a:sym typeface="Calibri"/>
            </a:endParaRPr>
          </a:p>
        </p:txBody>
      </p:sp>
      <p:sp>
        <p:nvSpPr>
          <p:cNvPr id="295" name="Google Shape;295;p21"/>
          <p:cNvSpPr txBox="1"/>
          <p:nvPr/>
        </p:nvSpPr>
        <p:spPr>
          <a:xfrm>
            <a:off x="880525" y="6215126"/>
            <a:ext cx="11172000" cy="207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45" u="none" cap="none" strike="noStrike">
                <a:solidFill>
                  <a:srgbClr val="1E40AF"/>
                </a:solidFill>
                <a:latin typeface="Inter"/>
                <a:ea typeface="Inter"/>
                <a:cs typeface="Inter"/>
                <a:sym typeface="Inter"/>
              </a:rPr>
              <a:t>Question: </a:t>
            </a:r>
            <a:r>
              <a:rPr b="1" lang="en-US" sz="1345">
                <a:solidFill>
                  <a:srgbClr val="1E40AF"/>
                </a:solidFill>
                <a:latin typeface="Inter"/>
                <a:ea typeface="Inter"/>
                <a:cs typeface="Inter"/>
                <a:sym typeface="Inter"/>
              </a:rPr>
              <a:t>“Are weather and tourism conditions associated with Airbnb occupancy?”</a:t>
            </a:r>
            <a:endParaRPr b="1" sz="1345">
              <a:solidFill>
                <a:srgbClr val="1E40AF"/>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22"/>
          <p:cNvSpPr/>
          <p:nvPr/>
        </p:nvSpPr>
        <p:spPr>
          <a:xfrm>
            <a:off x="11201400" y="504825"/>
            <a:ext cx="371475" cy="247650"/>
          </a:xfrm>
          <a:prstGeom prst="roundRect">
            <a:avLst>
              <a:gd fmla="val 15384" name="adj"/>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22"/>
          <p:cNvSpPr txBox="1"/>
          <p:nvPr/>
        </p:nvSpPr>
        <p:spPr>
          <a:xfrm>
            <a:off x="11315700" y="542925"/>
            <a:ext cx="23812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1717A"/>
                </a:solidFill>
                <a:latin typeface="Space Grotesk"/>
                <a:ea typeface="Space Grotesk"/>
                <a:cs typeface="Space Grotesk"/>
                <a:sym typeface="Space Grotesk"/>
              </a:rPr>
              <a:t>10</a:t>
            </a:r>
            <a:endParaRPr/>
          </a:p>
        </p:txBody>
      </p:sp>
      <p:sp>
        <p:nvSpPr>
          <p:cNvPr id="302" name="Google Shape;302;p22"/>
          <p:cNvSpPr txBox="1"/>
          <p:nvPr/>
        </p:nvSpPr>
        <p:spPr>
          <a:xfrm>
            <a:off x="619125" y="504825"/>
            <a:ext cx="36402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1050">
                <a:solidFill>
                  <a:srgbClr val="2563EB"/>
                </a:solidFill>
                <a:latin typeface="Inter"/>
                <a:ea typeface="Inter"/>
                <a:cs typeface="Inter"/>
                <a:sym typeface="Inter"/>
              </a:rPr>
              <a:t>HYPOTHESES 4</a:t>
            </a:r>
            <a:endParaRPr b="1" sz="1050">
              <a:solidFill>
                <a:srgbClr val="2563EB"/>
              </a:solidFill>
              <a:latin typeface="Inter"/>
              <a:ea typeface="Inter"/>
              <a:cs typeface="Inter"/>
              <a:sym typeface="Inter"/>
            </a:endParaRPr>
          </a:p>
        </p:txBody>
      </p:sp>
      <p:sp>
        <p:nvSpPr>
          <p:cNvPr id="303" name="Google Shape;303;p22"/>
          <p:cNvSpPr txBox="1"/>
          <p:nvPr/>
        </p:nvSpPr>
        <p:spPr>
          <a:xfrm>
            <a:off x="619125" y="752463"/>
            <a:ext cx="38223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09090B"/>
                </a:solidFill>
                <a:latin typeface="Space Grotesk"/>
                <a:ea typeface="Space Grotesk"/>
                <a:cs typeface="Space Grotesk"/>
                <a:sym typeface="Space Grotesk"/>
              </a:rPr>
              <a:t>Seasonality - </a:t>
            </a:r>
            <a:r>
              <a:rPr b="1" lang="en-US" sz="2400">
                <a:solidFill>
                  <a:srgbClr val="09090B"/>
                </a:solidFill>
                <a:latin typeface="Space Grotesk"/>
                <a:ea typeface="Space Grotesk"/>
                <a:cs typeface="Space Grotesk"/>
                <a:sym typeface="Space Grotesk"/>
              </a:rPr>
              <a:t>Occupancy</a:t>
            </a:r>
            <a:endParaRPr/>
          </a:p>
        </p:txBody>
      </p:sp>
      <p:pic>
        <p:nvPicPr>
          <p:cNvPr id="304" name="Google Shape;304;p22" title="avg_airbnb_occupancy.png"/>
          <p:cNvPicPr preferRelativeResize="0"/>
          <p:nvPr/>
        </p:nvPicPr>
        <p:blipFill>
          <a:blip r:embed="rId3">
            <a:alphaModFix/>
          </a:blip>
          <a:stretch>
            <a:fillRect/>
          </a:stretch>
        </p:blipFill>
        <p:spPr>
          <a:xfrm>
            <a:off x="4275900" y="2333538"/>
            <a:ext cx="3640201" cy="3148643"/>
          </a:xfrm>
          <a:prstGeom prst="rect">
            <a:avLst/>
          </a:prstGeom>
          <a:noFill/>
          <a:ln>
            <a:noFill/>
          </a:ln>
        </p:spPr>
      </p:pic>
      <p:sp>
        <p:nvSpPr>
          <p:cNvPr id="305" name="Google Shape;305;p22"/>
          <p:cNvSpPr/>
          <p:nvPr/>
        </p:nvSpPr>
        <p:spPr>
          <a:xfrm>
            <a:off x="6656725" y="1970577"/>
            <a:ext cx="2588400" cy="5700"/>
          </a:xfrm>
          <a:prstGeom prst="rect">
            <a:avLst/>
          </a:prstGeom>
          <a:solidFill>
            <a:srgbClr val="F4F4F5"/>
          </a:solidFill>
          <a:ln>
            <a:noFill/>
          </a:ln>
        </p:spPr>
        <p:txBody>
          <a:bodyPr anchorCtr="0" anchor="ctr" bIns="37275" lIns="74575" spcFirstLastPara="1" rIns="74575" wrap="square" tIns="37275">
            <a:noAutofit/>
          </a:bodyPr>
          <a:lstStyle/>
          <a:p>
            <a:pPr indent="0" lvl="0" marL="0" marR="0" rtl="0" algn="ctr">
              <a:spcBef>
                <a:spcPts val="0"/>
              </a:spcBef>
              <a:spcAft>
                <a:spcPts val="0"/>
              </a:spcAft>
              <a:buNone/>
            </a:pPr>
            <a:r>
              <a:t/>
            </a:r>
            <a:endParaRPr b="0" i="0" sz="1468" u="none" cap="none" strike="noStrike">
              <a:solidFill>
                <a:srgbClr val="000000"/>
              </a:solidFill>
              <a:latin typeface="Calibri"/>
              <a:ea typeface="Calibri"/>
              <a:cs typeface="Calibri"/>
              <a:sym typeface="Calibri"/>
            </a:endParaRPr>
          </a:p>
        </p:txBody>
      </p:sp>
      <p:grpSp>
        <p:nvGrpSpPr>
          <p:cNvPr id="306" name="Google Shape;306;p22"/>
          <p:cNvGrpSpPr/>
          <p:nvPr/>
        </p:nvGrpSpPr>
        <p:grpSpPr>
          <a:xfrm>
            <a:off x="8504579" y="3469670"/>
            <a:ext cx="1919038" cy="714395"/>
            <a:chOff x="1379879" y="5869970"/>
            <a:chExt cx="1919038" cy="714395"/>
          </a:xfrm>
        </p:grpSpPr>
        <p:sp>
          <p:nvSpPr>
            <p:cNvPr id="307" name="Google Shape;307;p22"/>
            <p:cNvSpPr/>
            <p:nvPr/>
          </p:nvSpPr>
          <p:spPr>
            <a:xfrm>
              <a:off x="1379879" y="5869980"/>
              <a:ext cx="1919038" cy="714385"/>
            </a:xfrm>
            <a:prstGeom prst="roundRect">
              <a:avLst>
                <a:gd fmla="val 7272" name="adj"/>
              </a:avLst>
            </a:prstGeom>
            <a:solidFill>
              <a:srgbClr val="FCFCFC"/>
            </a:solidFill>
            <a:ln cap="flat" cmpd="sng" w="6575">
              <a:solidFill>
                <a:srgbClr val="F4F4F5"/>
              </a:solidFill>
              <a:prstDash val="solid"/>
              <a:round/>
              <a:headEnd len="sm" w="sm" type="none"/>
              <a:tailEnd len="sm" w="sm" type="none"/>
            </a:ln>
          </p:spPr>
          <p:txBody>
            <a:bodyPr anchorCtr="0" anchor="ctr" bIns="31600" lIns="63225" spcFirstLastPara="1" rIns="63225" wrap="square" tIns="31600">
              <a:noAutofit/>
            </a:bodyPr>
            <a:lstStyle/>
            <a:p>
              <a:pPr indent="0" lvl="0" marL="0" marR="0" rtl="0" algn="ctr">
                <a:spcBef>
                  <a:spcPts val="0"/>
                </a:spcBef>
                <a:spcAft>
                  <a:spcPts val="0"/>
                </a:spcAft>
                <a:buNone/>
              </a:pPr>
              <a:r>
                <a:t/>
              </a:r>
              <a:endParaRPr b="0" i="0" sz="1415" u="none" cap="none" strike="noStrike">
                <a:solidFill>
                  <a:srgbClr val="000000"/>
                </a:solidFill>
                <a:latin typeface="Calibri"/>
                <a:ea typeface="Calibri"/>
                <a:cs typeface="Calibri"/>
                <a:sym typeface="Calibri"/>
              </a:endParaRPr>
            </a:p>
          </p:txBody>
        </p:sp>
        <p:sp>
          <p:nvSpPr>
            <p:cNvPr id="308" name="Google Shape;308;p22"/>
            <p:cNvSpPr/>
            <p:nvPr/>
          </p:nvSpPr>
          <p:spPr>
            <a:xfrm>
              <a:off x="1379879" y="5869970"/>
              <a:ext cx="1919038" cy="6486"/>
            </a:xfrm>
            <a:prstGeom prst="rect">
              <a:avLst/>
            </a:prstGeom>
            <a:solidFill>
              <a:srgbClr val="F4F4F5"/>
            </a:solidFill>
            <a:ln>
              <a:noFill/>
            </a:ln>
          </p:spPr>
          <p:txBody>
            <a:bodyPr anchorCtr="0" anchor="ctr" bIns="31600" lIns="63225" spcFirstLastPara="1" rIns="63225" wrap="square" tIns="31600">
              <a:noAutofit/>
            </a:bodyPr>
            <a:lstStyle/>
            <a:p>
              <a:pPr indent="0" lvl="0" marL="0" marR="0" rtl="0" algn="ctr">
                <a:spcBef>
                  <a:spcPts val="0"/>
                </a:spcBef>
                <a:spcAft>
                  <a:spcPts val="0"/>
                </a:spcAft>
                <a:buNone/>
              </a:pPr>
              <a:r>
                <a:t/>
              </a:r>
              <a:endParaRPr b="0" i="0" sz="1415" u="none" cap="none" strike="noStrike">
                <a:solidFill>
                  <a:srgbClr val="000000"/>
                </a:solidFill>
                <a:latin typeface="Calibri"/>
                <a:ea typeface="Calibri"/>
                <a:cs typeface="Calibri"/>
                <a:sym typeface="Calibri"/>
              </a:endParaRPr>
            </a:p>
          </p:txBody>
        </p:sp>
        <p:sp>
          <p:nvSpPr>
            <p:cNvPr id="309" name="Google Shape;309;p22"/>
            <p:cNvSpPr/>
            <p:nvPr/>
          </p:nvSpPr>
          <p:spPr>
            <a:xfrm>
              <a:off x="1379879" y="5869980"/>
              <a:ext cx="15612" cy="714385"/>
            </a:xfrm>
            <a:prstGeom prst="rect">
              <a:avLst/>
            </a:prstGeom>
            <a:solidFill>
              <a:srgbClr val="09090B"/>
            </a:solidFill>
            <a:ln>
              <a:noFill/>
            </a:ln>
          </p:spPr>
          <p:txBody>
            <a:bodyPr anchorCtr="0" anchor="ctr" bIns="31600" lIns="63225" spcFirstLastPara="1" rIns="63225" wrap="square" tIns="31600">
              <a:noAutofit/>
            </a:bodyPr>
            <a:lstStyle/>
            <a:p>
              <a:pPr indent="0" lvl="0" marL="0" marR="0" rtl="0" algn="ctr">
                <a:spcBef>
                  <a:spcPts val="0"/>
                </a:spcBef>
                <a:spcAft>
                  <a:spcPts val="0"/>
                </a:spcAft>
                <a:buNone/>
              </a:pPr>
              <a:r>
                <a:t/>
              </a:r>
              <a:endParaRPr b="0" i="0" sz="1245" u="none" cap="none" strike="noStrike">
                <a:solidFill>
                  <a:srgbClr val="000000"/>
                </a:solidFill>
                <a:latin typeface="Calibri"/>
                <a:ea typeface="Calibri"/>
                <a:cs typeface="Calibri"/>
                <a:sym typeface="Calibri"/>
              </a:endParaRPr>
            </a:p>
          </p:txBody>
        </p:sp>
        <p:sp>
          <p:nvSpPr>
            <p:cNvPr id="310" name="Google Shape;310;p22"/>
            <p:cNvSpPr txBox="1"/>
            <p:nvPr/>
          </p:nvSpPr>
          <p:spPr>
            <a:xfrm>
              <a:off x="1440801" y="5960879"/>
              <a:ext cx="1831132" cy="1972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641">
                  <a:solidFill>
                    <a:srgbClr val="09090B"/>
                  </a:solidFill>
                  <a:latin typeface="Inter"/>
                  <a:ea typeface="Inter"/>
                  <a:cs typeface="Inter"/>
                  <a:sym typeface="Inter"/>
                </a:rPr>
                <a:t>Occupancy</a:t>
              </a:r>
              <a:endParaRPr b="1" sz="641">
                <a:solidFill>
                  <a:srgbClr val="09090B"/>
                </a:solidFill>
                <a:latin typeface="Inter"/>
                <a:ea typeface="Inter"/>
                <a:cs typeface="Inter"/>
                <a:sym typeface="Inter"/>
              </a:endParaRPr>
            </a:p>
            <a:p>
              <a:pPr indent="0" lvl="0" marL="0" marR="0" rtl="0" algn="l">
                <a:spcBef>
                  <a:spcPts val="0"/>
                </a:spcBef>
                <a:spcAft>
                  <a:spcPts val="0"/>
                </a:spcAft>
                <a:buNone/>
              </a:pPr>
              <a:r>
                <a:t/>
              </a:r>
              <a:endParaRPr b="1" sz="641">
                <a:solidFill>
                  <a:srgbClr val="09090B"/>
                </a:solidFill>
                <a:latin typeface="Inter"/>
                <a:ea typeface="Inter"/>
                <a:cs typeface="Inter"/>
                <a:sym typeface="Inter"/>
              </a:endParaRPr>
            </a:p>
          </p:txBody>
        </p:sp>
        <p:sp>
          <p:nvSpPr>
            <p:cNvPr id="311" name="Google Shape;311;p22"/>
            <p:cNvSpPr txBox="1"/>
            <p:nvPr/>
          </p:nvSpPr>
          <p:spPr>
            <a:xfrm>
              <a:off x="1449316" y="6158095"/>
              <a:ext cx="1814080" cy="32524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881">
                  <a:solidFill>
                    <a:srgbClr val="334155"/>
                  </a:solidFill>
                  <a:latin typeface="Inter"/>
                  <a:ea typeface="Inter"/>
                  <a:cs typeface="Inter"/>
                  <a:sym typeface="Inter"/>
                </a:rPr>
                <a:t>January low (29.8%)</a:t>
              </a:r>
              <a:br>
                <a:rPr b="1" lang="en-US" sz="881">
                  <a:solidFill>
                    <a:srgbClr val="334155"/>
                  </a:solidFill>
                  <a:latin typeface="Inter"/>
                  <a:ea typeface="Inter"/>
                  <a:cs typeface="Inter"/>
                  <a:sym typeface="Inter"/>
                </a:rPr>
              </a:br>
              <a:r>
                <a:rPr b="1" lang="en-US" sz="881">
                  <a:solidFill>
                    <a:srgbClr val="334155"/>
                  </a:solidFill>
                  <a:latin typeface="Inter"/>
                  <a:ea typeface="Inter"/>
                  <a:cs typeface="Inter"/>
                  <a:sym typeface="Inter"/>
                </a:rPr>
                <a:t>July peak (48.7%)</a:t>
              </a:r>
              <a:endParaRPr sz="881"/>
            </a:p>
          </p:txBody>
        </p:sp>
      </p:grpSp>
      <p:grpSp>
        <p:nvGrpSpPr>
          <p:cNvPr id="312" name="Google Shape;312;p22"/>
          <p:cNvGrpSpPr/>
          <p:nvPr/>
        </p:nvGrpSpPr>
        <p:grpSpPr>
          <a:xfrm>
            <a:off x="1390650" y="1619088"/>
            <a:ext cx="9410700" cy="423900"/>
            <a:chOff x="1109125" y="1712825"/>
            <a:chExt cx="9410700" cy="423900"/>
          </a:xfrm>
        </p:grpSpPr>
        <p:sp>
          <p:nvSpPr>
            <p:cNvPr id="313" name="Google Shape;313;p22"/>
            <p:cNvSpPr/>
            <p:nvPr/>
          </p:nvSpPr>
          <p:spPr>
            <a:xfrm>
              <a:off x="1708578" y="1712825"/>
              <a:ext cx="8126700" cy="423900"/>
            </a:xfrm>
            <a:prstGeom prst="rect">
              <a:avLst/>
            </a:prstGeom>
            <a:solidFill>
              <a:srgbClr val="EFF6FF"/>
            </a:solidFill>
            <a:ln>
              <a:noFill/>
            </a:ln>
          </p:spPr>
          <p:txBody>
            <a:bodyPr anchorCtr="0" anchor="ctr" bIns="33900" lIns="67825" spcFirstLastPara="1" rIns="67825" wrap="square" tIns="33900">
              <a:noAutofit/>
            </a:bodyPr>
            <a:lstStyle/>
            <a:p>
              <a:pPr indent="0" lvl="0" marL="0" marR="0" rtl="0" algn="ctr">
                <a:spcBef>
                  <a:spcPts val="0"/>
                </a:spcBef>
                <a:spcAft>
                  <a:spcPts val="0"/>
                </a:spcAft>
                <a:buNone/>
              </a:pPr>
              <a:r>
                <a:t/>
              </a:r>
              <a:endParaRPr b="0" i="0" sz="1187" u="none" cap="none" strike="noStrike">
                <a:solidFill>
                  <a:schemeClr val="dk1"/>
                </a:solidFill>
                <a:latin typeface="Calibri"/>
                <a:ea typeface="Calibri"/>
                <a:cs typeface="Calibri"/>
                <a:sym typeface="Calibri"/>
              </a:endParaRPr>
            </a:p>
          </p:txBody>
        </p:sp>
        <p:sp>
          <p:nvSpPr>
            <p:cNvPr id="314" name="Google Shape;314;p22"/>
            <p:cNvSpPr/>
            <p:nvPr/>
          </p:nvSpPr>
          <p:spPr>
            <a:xfrm>
              <a:off x="1708578" y="1712825"/>
              <a:ext cx="28200" cy="423900"/>
            </a:xfrm>
            <a:prstGeom prst="rect">
              <a:avLst/>
            </a:prstGeom>
            <a:solidFill>
              <a:srgbClr val="2563EB"/>
            </a:solidFill>
            <a:ln>
              <a:noFill/>
            </a:ln>
          </p:spPr>
          <p:txBody>
            <a:bodyPr anchorCtr="0" anchor="ctr" bIns="33900" lIns="67825" spcFirstLastPara="1" rIns="67825" wrap="square" tIns="33900">
              <a:noAutofit/>
            </a:bodyPr>
            <a:lstStyle/>
            <a:p>
              <a:pPr indent="0" lvl="0" marL="0" marR="0" rtl="0" algn="ctr">
                <a:spcBef>
                  <a:spcPts val="0"/>
                </a:spcBef>
                <a:spcAft>
                  <a:spcPts val="0"/>
                </a:spcAft>
                <a:buNone/>
              </a:pPr>
              <a:r>
                <a:t/>
              </a:r>
              <a:endParaRPr b="0" i="0" sz="1335" u="none" cap="none" strike="noStrike">
                <a:solidFill>
                  <a:schemeClr val="dk1"/>
                </a:solidFill>
                <a:latin typeface="Calibri"/>
                <a:ea typeface="Calibri"/>
                <a:cs typeface="Calibri"/>
                <a:sym typeface="Calibri"/>
              </a:endParaRPr>
            </a:p>
          </p:txBody>
        </p:sp>
        <p:sp>
          <p:nvSpPr>
            <p:cNvPr id="315" name="Google Shape;315;p22"/>
            <p:cNvSpPr txBox="1"/>
            <p:nvPr/>
          </p:nvSpPr>
          <p:spPr>
            <a:xfrm>
              <a:off x="1109125" y="1868595"/>
              <a:ext cx="9410700" cy="17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33" u="none" cap="none" strike="noStrike">
                  <a:solidFill>
                    <a:srgbClr val="1E40AF"/>
                  </a:solidFill>
                  <a:latin typeface="Inter"/>
                  <a:ea typeface="Inter"/>
                  <a:cs typeface="Inter"/>
                  <a:sym typeface="Inter"/>
                </a:rPr>
                <a:t>Question: </a:t>
              </a:r>
              <a:r>
                <a:rPr b="1" lang="en-US" sz="1133">
                  <a:solidFill>
                    <a:srgbClr val="1E40AF"/>
                  </a:solidFill>
                  <a:latin typeface="Inter"/>
                  <a:ea typeface="Inter"/>
                  <a:cs typeface="Inter"/>
                  <a:sym typeface="Inter"/>
                </a:rPr>
                <a:t>“Does Airbnb occupancy change depending on the time of year?” </a:t>
              </a:r>
              <a:endParaRPr b="1" sz="1133">
                <a:solidFill>
                  <a:srgbClr val="1E40AF"/>
                </a:solidFill>
                <a:latin typeface="Inter"/>
                <a:ea typeface="Inter"/>
                <a:cs typeface="Inter"/>
                <a:sym typeface="Inter"/>
              </a:endParaRPr>
            </a:p>
          </p:txBody>
        </p:sp>
      </p:grpSp>
      <p:grpSp>
        <p:nvGrpSpPr>
          <p:cNvPr id="316" name="Google Shape;316;p22"/>
          <p:cNvGrpSpPr/>
          <p:nvPr/>
        </p:nvGrpSpPr>
        <p:grpSpPr>
          <a:xfrm>
            <a:off x="2005084" y="5772725"/>
            <a:ext cx="8181831" cy="576600"/>
            <a:chOff x="1581150" y="5772725"/>
            <a:chExt cx="8490900" cy="576600"/>
          </a:xfrm>
        </p:grpSpPr>
        <p:sp>
          <p:nvSpPr>
            <p:cNvPr id="317" name="Google Shape;317;p22"/>
            <p:cNvSpPr/>
            <p:nvPr/>
          </p:nvSpPr>
          <p:spPr>
            <a:xfrm>
              <a:off x="1581150" y="5772725"/>
              <a:ext cx="8490900" cy="576600"/>
            </a:xfrm>
            <a:prstGeom prst="rect">
              <a:avLst/>
            </a:prstGeom>
            <a:solidFill>
              <a:srgbClr val="EFF6FF"/>
            </a:solidFill>
            <a:ln>
              <a:noFill/>
            </a:ln>
          </p:spPr>
          <p:txBody>
            <a:bodyPr anchorCtr="0" anchor="ctr" bIns="32775" lIns="65575" spcFirstLastPara="1" rIns="65575" wrap="square" tIns="32775">
              <a:noAutofit/>
            </a:bodyPr>
            <a:lstStyle/>
            <a:p>
              <a:pPr indent="0" lvl="0" marL="0" marR="0" rtl="0" algn="ctr">
                <a:spcBef>
                  <a:spcPts val="0"/>
                </a:spcBef>
                <a:spcAft>
                  <a:spcPts val="0"/>
                </a:spcAft>
                <a:buNone/>
              </a:pPr>
              <a:r>
                <a:t/>
              </a:r>
              <a:endParaRPr b="1" sz="1133">
                <a:solidFill>
                  <a:srgbClr val="1E40AF"/>
                </a:solidFill>
                <a:latin typeface="Inter"/>
                <a:ea typeface="Inter"/>
                <a:cs typeface="Inter"/>
                <a:sym typeface="Inter"/>
              </a:endParaRPr>
            </a:p>
          </p:txBody>
        </p:sp>
        <p:sp>
          <p:nvSpPr>
            <p:cNvPr id="318" name="Google Shape;318;p22"/>
            <p:cNvSpPr/>
            <p:nvPr/>
          </p:nvSpPr>
          <p:spPr>
            <a:xfrm>
              <a:off x="1581150" y="5772725"/>
              <a:ext cx="29700" cy="576600"/>
            </a:xfrm>
            <a:prstGeom prst="rect">
              <a:avLst/>
            </a:prstGeom>
            <a:solidFill>
              <a:srgbClr val="2563EB"/>
            </a:solidFill>
            <a:ln>
              <a:noFill/>
            </a:ln>
          </p:spPr>
          <p:txBody>
            <a:bodyPr anchorCtr="0" anchor="ctr" bIns="32775" lIns="65575" spcFirstLastPara="1" rIns="65575" wrap="square" tIns="32775">
              <a:noAutofit/>
            </a:bodyPr>
            <a:lstStyle/>
            <a:p>
              <a:pPr indent="0" lvl="0" marL="0" marR="0" rtl="0" algn="ctr">
                <a:spcBef>
                  <a:spcPts val="0"/>
                </a:spcBef>
                <a:spcAft>
                  <a:spcPts val="0"/>
                </a:spcAft>
                <a:buNone/>
              </a:pPr>
              <a:r>
                <a:t/>
              </a:r>
              <a:endParaRPr b="0" i="0" sz="1291" u="none" cap="none" strike="noStrike">
                <a:solidFill>
                  <a:schemeClr val="dk1"/>
                </a:solidFill>
                <a:latin typeface="Calibri"/>
                <a:ea typeface="Calibri"/>
                <a:cs typeface="Calibri"/>
                <a:sym typeface="Calibri"/>
              </a:endParaRPr>
            </a:p>
          </p:txBody>
        </p:sp>
        <p:sp>
          <p:nvSpPr>
            <p:cNvPr id="319" name="Google Shape;319;p22"/>
            <p:cNvSpPr txBox="1"/>
            <p:nvPr/>
          </p:nvSpPr>
          <p:spPr>
            <a:xfrm>
              <a:off x="1758347" y="5851156"/>
              <a:ext cx="8210100" cy="11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3" u="none" cap="none" strike="noStrike">
                  <a:solidFill>
                    <a:srgbClr val="2563EB"/>
                  </a:solidFill>
                  <a:latin typeface="Inter"/>
                  <a:ea typeface="Inter"/>
                  <a:cs typeface="Inter"/>
                  <a:sym typeface="Inter"/>
                </a:rPr>
                <a:t>Core Statement</a:t>
              </a:r>
              <a:endParaRPr sz="1004"/>
            </a:p>
          </p:txBody>
        </p:sp>
        <p:sp>
          <p:nvSpPr>
            <p:cNvPr id="320" name="Google Shape;320;p22"/>
            <p:cNvSpPr txBox="1"/>
            <p:nvPr/>
          </p:nvSpPr>
          <p:spPr>
            <a:xfrm>
              <a:off x="1773205" y="5973877"/>
              <a:ext cx="8180400" cy="174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133">
                  <a:solidFill>
                    <a:srgbClr val="1E40AF"/>
                  </a:solidFill>
                  <a:latin typeface="Inter"/>
                  <a:ea typeface="Inter"/>
                  <a:cs typeface="Inter"/>
                  <a:sym typeface="Inter"/>
                </a:rPr>
                <a:t>Airbnb occupancy follows a clear seasonal pattern, increasing towards summer and declining again afterwards.</a:t>
              </a:r>
              <a:endParaRPr b="1" sz="1133">
                <a:solidFill>
                  <a:srgbClr val="1E40AF"/>
                </a:solidFill>
                <a:latin typeface="Inter"/>
                <a:ea typeface="Inter"/>
                <a:cs typeface="Inter"/>
                <a:sym typeface="Inte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23"/>
          <p:cNvSpPr/>
          <p:nvPr/>
        </p:nvSpPr>
        <p:spPr>
          <a:xfrm>
            <a:off x="11201400" y="504825"/>
            <a:ext cx="371400" cy="247800"/>
          </a:xfrm>
          <a:prstGeom prst="roundRect">
            <a:avLst>
              <a:gd fmla="val 15384" name="adj"/>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23"/>
          <p:cNvSpPr txBox="1"/>
          <p:nvPr/>
        </p:nvSpPr>
        <p:spPr>
          <a:xfrm>
            <a:off x="11315700" y="542925"/>
            <a:ext cx="2382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1717A"/>
                </a:solidFill>
                <a:latin typeface="Space Grotesk"/>
                <a:ea typeface="Space Grotesk"/>
                <a:cs typeface="Space Grotesk"/>
                <a:sym typeface="Space Grotesk"/>
              </a:rPr>
              <a:t>1</a:t>
            </a:r>
            <a:r>
              <a:rPr b="1" lang="en-US" sz="1050">
                <a:solidFill>
                  <a:srgbClr val="71717A"/>
                </a:solidFill>
                <a:latin typeface="Space Grotesk"/>
                <a:ea typeface="Space Grotesk"/>
                <a:cs typeface="Space Grotesk"/>
                <a:sym typeface="Space Grotesk"/>
              </a:rPr>
              <a:t>1</a:t>
            </a:r>
            <a:endParaRPr/>
          </a:p>
        </p:txBody>
      </p:sp>
      <p:sp>
        <p:nvSpPr>
          <p:cNvPr id="327" name="Google Shape;327;p23"/>
          <p:cNvSpPr txBox="1"/>
          <p:nvPr/>
        </p:nvSpPr>
        <p:spPr>
          <a:xfrm>
            <a:off x="619125" y="504825"/>
            <a:ext cx="36402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563EB"/>
                </a:solidFill>
                <a:latin typeface="Inter"/>
                <a:ea typeface="Inter"/>
                <a:cs typeface="Inter"/>
                <a:sym typeface="Inter"/>
              </a:rPr>
              <a:t>H</a:t>
            </a:r>
            <a:r>
              <a:rPr b="1" lang="en-US" sz="1050">
                <a:solidFill>
                  <a:srgbClr val="2563EB"/>
                </a:solidFill>
                <a:latin typeface="Inter"/>
                <a:ea typeface="Inter"/>
                <a:cs typeface="Inter"/>
                <a:sym typeface="Inter"/>
              </a:rPr>
              <a:t>YPOTHESES </a:t>
            </a:r>
            <a:r>
              <a:rPr b="1" i="0" lang="en-US" sz="1050" u="none" cap="none" strike="noStrike">
                <a:solidFill>
                  <a:srgbClr val="2563EB"/>
                </a:solidFill>
                <a:latin typeface="Inter"/>
                <a:ea typeface="Inter"/>
                <a:cs typeface="Inter"/>
                <a:sym typeface="Inter"/>
              </a:rPr>
              <a:t>4</a:t>
            </a:r>
            <a:endParaRPr/>
          </a:p>
        </p:txBody>
      </p:sp>
      <p:sp>
        <p:nvSpPr>
          <p:cNvPr id="328" name="Google Shape;328;p23"/>
          <p:cNvSpPr txBox="1"/>
          <p:nvPr/>
        </p:nvSpPr>
        <p:spPr>
          <a:xfrm>
            <a:off x="619125" y="752475"/>
            <a:ext cx="47637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09090B"/>
                </a:solidFill>
                <a:latin typeface="Space Grotesk"/>
                <a:ea typeface="Space Grotesk"/>
                <a:cs typeface="Space Grotesk"/>
                <a:sym typeface="Space Grotesk"/>
              </a:rPr>
              <a:t>Seasonality - </a:t>
            </a:r>
            <a:r>
              <a:rPr b="1" lang="en-US" sz="2400">
                <a:solidFill>
                  <a:srgbClr val="09090B"/>
                </a:solidFill>
                <a:latin typeface="Space Grotesk"/>
                <a:ea typeface="Space Grotesk"/>
                <a:cs typeface="Space Grotesk"/>
                <a:sym typeface="Space Grotesk"/>
              </a:rPr>
              <a:t>RevPAR &amp; ADR</a:t>
            </a:r>
            <a:endParaRPr/>
          </a:p>
        </p:txBody>
      </p:sp>
      <p:sp>
        <p:nvSpPr>
          <p:cNvPr id="329" name="Google Shape;329;p23"/>
          <p:cNvSpPr/>
          <p:nvPr/>
        </p:nvSpPr>
        <p:spPr>
          <a:xfrm>
            <a:off x="6656725" y="1970577"/>
            <a:ext cx="2588400" cy="5700"/>
          </a:xfrm>
          <a:prstGeom prst="rect">
            <a:avLst/>
          </a:prstGeom>
          <a:solidFill>
            <a:srgbClr val="F4F4F5"/>
          </a:solidFill>
          <a:ln>
            <a:noFill/>
          </a:ln>
        </p:spPr>
        <p:txBody>
          <a:bodyPr anchorCtr="0" anchor="ctr" bIns="37275" lIns="74575" spcFirstLastPara="1" rIns="74575" wrap="square" tIns="37275">
            <a:noAutofit/>
          </a:bodyPr>
          <a:lstStyle/>
          <a:p>
            <a:pPr indent="0" lvl="0" marL="0" marR="0" rtl="0" algn="ctr">
              <a:spcBef>
                <a:spcPts val="0"/>
              </a:spcBef>
              <a:spcAft>
                <a:spcPts val="0"/>
              </a:spcAft>
              <a:buNone/>
            </a:pPr>
            <a:r>
              <a:t/>
            </a:r>
            <a:endParaRPr b="0" i="0" sz="1468" u="none" cap="none" strike="noStrike">
              <a:solidFill>
                <a:srgbClr val="000000"/>
              </a:solidFill>
              <a:latin typeface="Calibri"/>
              <a:ea typeface="Calibri"/>
              <a:cs typeface="Calibri"/>
              <a:sym typeface="Calibri"/>
            </a:endParaRPr>
          </a:p>
        </p:txBody>
      </p:sp>
      <p:grpSp>
        <p:nvGrpSpPr>
          <p:cNvPr id="330" name="Google Shape;330;p23"/>
          <p:cNvGrpSpPr/>
          <p:nvPr/>
        </p:nvGrpSpPr>
        <p:grpSpPr>
          <a:xfrm>
            <a:off x="1390650" y="1619088"/>
            <a:ext cx="9410700" cy="423900"/>
            <a:chOff x="1109125" y="1712825"/>
            <a:chExt cx="9410700" cy="423900"/>
          </a:xfrm>
        </p:grpSpPr>
        <p:sp>
          <p:nvSpPr>
            <p:cNvPr id="331" name="Google Shape;331;p23"/>
            <p:cNvSpPr/>
            <p:nvPr/>
          </p:nvSpPr>
          <p:spPr>
            <a:xfrm>
              <a:off x="1708578" y="1712825"/>
              <a:ext cx="8126700" cy="423900"/>
            </a:xfrm>
            <a:prstGeom prst="rect">
              <a:avLst/>
            </a:prstGeom>
            <a:solidFill>
              <a:srgbClr val="EFF6FF"/>
            </a:solidFill>
            <a:ln>
              <a:noFill/>
            </a:ln>
          </p:spPr>
          <p:txBody>
            <a:bodyPr anchorCtr="0" anchor="ctr" bIns="33900" lIns="67825" spcFirstLastPara="1" rIns="67825" wrap="square" tIns="33900">
              <a:noAutofit/>
            </a:bodyPr>
            <a:lstStyle/>
            <a:p>
              <a:pPr indent="0" lvl="0" marL="0" marR="0" rtl="0" algn="ctr">
                <a:spcBef>
                  <a:spcPts val="0"/>
                </a:spcBef>
                <a:spcAft>
                  <a:spcPts val="0"/>
                </a:spcAft>
                <a:buNone/>
              </a:pPr>
              <a:r>
                <a:t/>
              </a:r>
              <a:endParaRPr b="0" i="0" sz="1187" u="none" cap="none" strike="noStrike">
                <a:solidFill>
                  <a:schemeClr val="dk1"/>
                </a:solidFill>
                <a:latin typeface="Calibri"/>
                <a:ea typeface="Calibri"/>
                <a:cs typeface="Calibri"/>
                <a:sym typeface="Calibri"/>
              </a:endParaRPr>
            </a:p>
          </p:txBody>
        </p:sp>
        <p:sp>
          <p:nvSpPr>
            <p:cNvPr id="332" name="Google Shape;332;p23"/>
            <p:cNvSpPr/>
            <p:nvPr/>
          </p:nvSpPr>
          <p:spPr>
            <a:xfrm>
              <a:off x="1708578" y="1712825"/>
              <a:ext cx="28200" cy="423900"/>
            </a:xfrm>
            <a:prstGeom prst="rect">
              <a:avLst/>
            </a:prstGeom>
            <a:solidFill>
              <a:srgbClr val="2563EB"/>
            </a:solidFill>
            <a:ln>
              <a:noFill/>
            </a:ln>
          </p:spPr>
          <p:txBody>
            <a:bodyPr anchorCtr="0" anchor="ctr" bIns="33900" lIns="67825" spcFirstLastPara="1" rIns="67825" wrap="square" tIns="33900">
              <a:noAutofit/>
            </a:bodyPr>
            <a:lstStyle/>
            <a:p>
              <a:pPr indent="0" lvl="0" marL="0" marR="0" rtl="0" algn="ctr">
                <a:spcBef>
                  <a:spcPts val="0"/>
                </a:spcBef>
                <a:spcAft>
                  <a:spcPts val="0"/>
                </a:spcAft>
                <a:buNone/>
              </a:pPr>
              <a:r>
                <a:t/>
              </a:r>
              <a:endParaRPr b="0" i="0" sz="1335" u="none" cap="none" strike="noStrike">
                <a:solidFill>
                  <a:schemeClr val="dk1"/>
                </a:solidFill>
                <a:latin typeface="Calibri"/>
                <a:ea typeface="Calibri"/>
                <a:cs typeface="Calibri"/>
                <a:sym typeface="Calibri"/>
              </a:endParaRPr>
            </a:p>
          </p:txBody>
        </p:sp>
        <p:sp>
          <p:nvSpPr>
            <p:cNvPr id="333" name="Google Shape;333;p23"/>
            <p:cNvSpPr txBox="1"/>
            <p:nvPr/>
          </p:nvSpPr>
          <p:spPr>
            <a:xfrm>
              <a:off x="1109125" y="1868595"/>
              <a:ext cx="9410700" cy="174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33" u="none" cap="none" strike="noStrike">
                  <a:solidFill>
                    <a:srgbClr val="1E40AF"/>
                  </a:solidFill>
                  <a:latin typeface="Inter"/>
                  <a:ea typeface="Inter"/>
                  <a:cs typeface="Inter"/>
                  <a:sym typeface="Inter"/>
                </a:rPr>
                <a:t>Question: </a:t>
              </a:r>
              <a:r>
                <a:rPr b="1" lang="en-US" sz="1133">
                  <a:solidFill>
                    <a:srgbClr val="1E40AF"/>
                  </a:solidFill>
                  <a:latin typeface="Inter"/>
                  <a:ea typeface="Inter"/>
                  <a:cs typeface="Inter"/>
                  <a:sym typeface="Inter"/>
                </a:rPr>
                <a:t>“Does rental revenue performance follow the same seasonal pattern?”</a:t>
              </a:r>
              <a:endParaRPr b="1" sz="1133">
                <a:solidFill>
                  <a:srgbClr val="1E40AF"/>
                </a:solidFill>
                <a:latin typeface="Inter"/>
                <a:ea typeface="Inter"/>
                <a:cs typeface="Inter"/>
                <a:sym typeface="Inter"/>
              </a:endParaRPr>
            </a:p>
          </p:txBody>
        </p:sp>
      </p:grpSp>
      <p:pic>
        <p:nvPicPr>
          <p:cNvPr id="334" name="Google Shape;334;p23"/>
          <p:cNvPicPr preferRelativeResize="0"/>
          <p:nvPr/>
        </p:nvPicPr>
        <p:blipFill>
          <a:blip r:embed="rId3">
            <a:alphaModFix/>
          </a:blip>
          <a:stretch>
            <a:fillRect/>
          </a:stretch>
        </p:blipFill>
        <p:spPr>
          <a:xfrm>
            <a:off x="619125" y="2540325"/>
            <a:ext cx="3952876" cy="3442625"/>
          </a:xfrm>
          <a:prstGeom prst="rect">
            <a:avLst/>
          </a:prstGeom>
          <a:noFill/>
          <a:ln>
            <a:noFill/>
          </a:ln>
        </p:spPr>
      </p:pic>
      <p:grpSp>
        <p:nvGrpSpPr>
          <p:cNvPr id="335" name="Google Shape;335;p23"/>
          <p:cNvGrpSpPr/>
          <p:nvPr/>
        </p:nvGrpSpPr>
        <p:grpSpPr>
          <a:xfrm>
            <a:off x="4877104" y="3071826"/>
            <a:ext cx="1919293" cy="714355"/>
            <a:chOff x="8881104" y="5870001"/>
            <a:chExt cx="1919293" cy="714355"/>
          </a:xfrm>
        </p:grpSpPr>
        <p:grpSp>
          <p:nvGrpSpPr>
            <p:cNvPr id="336" name="Google Shape;336;p23"/>
            <p:cNvGrpSpPr/>
            <p:nvPr/>
          </p:nvGrpSpPr>
          <p:grpSpPr>
            <a:xfrm>
              <a:off x="8881106" y="5870001"/>
              <a:ext cx="1919291" cy="714355"/>
              <a:chOff x="6552867" y="666825"/>
              <a:chExt cx="2058000" cy="765900"/>
            </a:xfrm>
          </p:grpSpPr>
          <p:sp>
            <p:nvSpPr>
              <p:cNvPr id="337" name="Google Shape;337;p23"/>
              <p:cNvSpPr/>
              <p:nvPr/>
            </p:nvSpPr>
            <p:spPr>
              <a:xfrm>
                <a:off x="6552867" y="666825"/>
                <a:ext cx="2058000" cy="765900"/>
              </a:xfrm>
              <a:prstGeom prst="roundRect">
                <a:avLst>
                  <a:gd fmla="val 7272" name="adj"/>
                </a:avLst>
              </a:prstGeom>
              <a:solidFill>
                <a:srgbClr val="FCFCFC"/>
              </a:solidFill>
              <a:ln cap="flat" cmpd="sng" w="6575">
                <a:solidFill>
                  <a:srgbClr val="F4F4F5"/>
                </a:solidFill>
                <a:prstDash val="solid"/>
                <a:round/>
                <a:headEnd len="sm" w="sm" type="none"/>
                <a:tailEnd len="sm" w="sm" type="none"/>
              </a:ln>
            </p:spPr>
            <p:txBody>
              <a:bodyPr anchorCtr="0" anchor="ctr" bIns="31625" lIns="63225" spcFirstLastPara="1" rIns="63225" wrap="square" tIns="31625">
                <a:noAutofit/>
              </a:bodyPr>
              <a:lstStyle/>
              <a:p>
                <a:pPr indent="0" lvl="0" marL="0" marR="0" rtl="0" algn="ctr">
                  <a:spcBef>
                    <a:spcPts val="0"/>
                  </a:spcBef>
                  <a:spcAft>
                    <a:spcPts val="0"/>
                  </a:spcAft>
                  <a:buNone/>
                </a:pPr>
                <a:r>
                  <a:t/>
                </a:r>
                <a:endParaRPr b="0" i="0" sz="1415" u="none" cap="none" strike="noStrike">
                  <a:solidFill>
                    <a:srgbClr val="000000"/>
                  </a:solidFill>
                  <a:latin typeface="Calibri"/>
                  <a:ea typeface="Calibri"/>
                  <a:cs typeface="Calibri"/>
                  <a:sym typeface="Calibri"/>
                </a:endParaRPr>
              </a:p>
            </p:txBody>
          </p:sp>
          <p:sp>
            <p:nvSpPr>
              <p:cNvPr id="338" name="Google Shape;338;p23"/>
              <p:cNvSpPr txBox="1"/>
              <p:nvPr/>
            </p:nvSpPr>
            <p:spPr>
              <a:xfrm>
                <a:off x="6618202" y="764298"/>
                <a:ext cx="1963800" cy="21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641">
                    <a:solidFill>
                      <a:srgbClr val="09090B"/>
                    </a:solidFill>
                    <a:latin typeface="Inter"/>
                    <a:ea typeface="Inter"/>
                    <a:cs typeface="Inter"/>
                    <a:sym typeface="Inter"/>
                  </a:rPr>
                  <a:t>RevPAR</a:t>
                </a:r>
                <a:endParaRPr b="1" sz="641">
                  <a:solidFill>
                    <a:srgbClr val="09090B"/>
                  </a:solidFill>
                  <a:latin typeface="Inter"/>
                  <a:ea typeface="Inter"/>
                  <a:cs typeface="Inter"/>
                  <a:sym typeface="Inter"/>
                </a:endParaRPr>
              </a:p>
              <a:p>
                <a:pPr indent="0" lvl="0" marL="0" marR="0" rtl="0" algn="l">
                  <a:spcBef>
                    <a:spcPts val="0"/>
                  </a:spcBef>
                  <a:spcAft>
                    <a:spcPts val="0"/>
                  </a:spcAft>
                  <a:buNone/>
                </a:pPr>
                <a:r>
                  <a:t/>
                </a:r>
                <a:endParaRPr b="1" sz="641">
                  <a:solidFill>
                    <a:srgbClr val="09090B"/>
                  </a:solidFill>
                  <a:latin typeface="Inter"/>
                  <a:ea typeface="Inter"/>
                  <a:cs typeface="Inter"/>
                  <a:sym typeface="Inter"/>
                </a:endParaRPr>
              </a:p>
            </p:txBody>
          </p:sp>
          <p:sp>
            <p:nvSpPr>
              <p:cNvPr id="339" name="Google Shape;339;p23"/>
              <p:cNvSpPr txBox="1"/>
              <p:nvPr/>
            </p:nvSpPr>
            <p:spPr>
              <a:xfrm>
                <a:off x="6627334" y="975775"/>
                <a:ext cx="1945500" cy="348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881">
                    <a:solidFill>
                      <a:srgbClr val="334155"/>
                    </a:solidFill>
                    <a:latin typeface="Inter"/>
                    <a:ea typeface="Inter"/>
                    <a:cs typeface="Inter"/>
                    <a:sym typeface="Inter"/>
                  </a:rPr>
                  <a:t>January low (45.6)</a:t>
                </a:r>
                <a:br>
                  <a:rPr b="1" lang="en-US" sz="881">
                    <a:solidFill>
                      <a:srgbClr val="334155"/>
                    </a:solidFill>
                    <a:latin typeface="Inter"/>
                    <a:ea typeface="Inter"/>
                    <a:cs typeface="Inter"/>
                    <a:sym typeface="Inter"/>
                  </a:rPr>
                </a:br>
                <a:r>
                  <a:rPr b="1" lang="en-US" sz="881">
                    <a:solidFill>
                      <a:srgbClr val="334155"/>
                    </a:solidFill>
                    <a:latin typeface="Inter"/>
                    <a:ea typeface="Inter"/>
                    <a:cs typeface="Inter"/>
                    <a:sym typeface="Inter"/>
                  </a:rPr>
                  <a:t>July peak (98.5)</a:t>
                </a:r>
                <a:endParaRPr sz="881"/>
              </a:p>
            </p:txBody>
          </p:sp>
        </p:grpSp>
        <p:sp>
          <p:nvSpPr>
            <p:cNvPr id="340" name="Google Shape;340;p23"/>
            <p:cNvSpPr/>
            <p:nvPr/>
          </p:nvSpPr>
          <p:spPr>
            <a:xfrm>
              <a:off x="8881104" y="5870030"/>
              <a:ext cx="15600" cy="714300"/>
            </a:xfrm>
            <a:prstGeom prst="rect">
              <a:avLst/>
            </a:prstGeom>
            <a:solidFill>
              <a:srgbClr val="09090B"/>
            </a:solidFill>
            <a:ln>
              <a:noFill/>
            </a:ln>
          </p:spPr>
          <p:txBody>
            <a:bodyPr anchorCtr="0" anchor="ctr" bIns="31600" lIns="63225" spcFirstLastPara="1" rIns="63225" wrap="square" tIns="31600">
              <a:noAutofit/>
            </a:bodyPr>
            <a:lstStyle/>
            <a:p>
              <a:pPr indent="0" lvl="0" marL="0" marR="0" rtl="0" algn="ctr">
                <a:spcBef>
                  <a:spcPts val="0"/>
                </a:spcBef>
                <a:spcAft>
                  <a:spcPts val="0"/>
                </a:spcAft>
                <a:buNone/>
              </a:pPr>
              <a:r>
                <a:t/>
              </a:r>
              <a:endParaRPr b="0" i="0" sz="1245" u="none" cap="none" strike="noStrike">
                <a:solidFill>
                  <a:srgbClr val="000000"/>
                </a:solidFill>
                <a:latin typeface="Calibri"/>
                <a:ea typeface="Calibri"/>
                <a:cs typeface="Calibri"/>
                <a:sym typeface="Calibri"/>
              </a:endParaRPr>
            </a:p>
          </p:txBody>
        </p:sp>
      </p:grpSp>
      <p:pic>
        <p:nvPicPr>
          <p:cNvPr id="341" name="Google Shape;341;p23"/>
          <p:cNvPicPr preferRelativeResize="0"/>
          <p:nvPr/>
        </p:nvPicPr>
        <p:blipFill>
          <a:blip r:embed="rId4">
            <a:alphaModFix/>
          </a:blip>
          <a:stretch>
            <a:fillRect/>
          </a:stretch>
        </p:blipFill>
        <p:spPr>
          <a:xfrm>
            <a:off x="7278225" y="2727475"/>
            <a:ext cx="3523124" cy="3068325"/>
          </a:xfrm>
          <a:prstGeom prst="rect">
            <a:avLst/>
          </a:prstGeom>
          <a:noFill/>
          <a:ln>
            <a:noFill/>
          </a:ln>
        </p:spPr>
      </p:pic>
      <p:grpSp>
        <p:nvGrpSpPr>
          <p:cNvPr id="342" name="Google Shape;342;p23"/>
          <p:cNvGrpSpPr/>
          <p:nvPr/>
        </p:nvGrpSpPr>
        <p:grpSpPr>
          <a:xfrm>
            <a:off x="4877106" y="4357701"/>
            <a:ext cx="1919298" cy="714355"/>
            <a:chOff x="4877106" y="4357701"/>
            <a:chExt cx="1919298" cy="714355"/>
          </a:xfrm>
        </p:grpSpPr>
        <p:grpSp>
          <p:nvGrpSpPr>
            <p:cNvPr id="343" name="Google Shape;343;p23"/>
            <p:cNvGrpSpPr/>
            <p:nvPr/>
          </p:nvGrpSpPr>
          <p:grpSpPr>
            <a:xfrm>
              <a:off x="4877106" y="4357701"/>
              <a:ext cx="1919291" cy="714355"/>
              <a:chOff x="6552867" y="666825"/>
              <a:chExt cx="2058000" cy="765900"/>
            </a:xfrm>
          </p:grpSpPr>
          <p:sp>
            <p:nvSpPr>
              <p:cNvPr id="344" name="Google Shape;344;p23"/>
              <p:cNvSpPr/>
              <p:nvPr/>
            </p:nvSpPr>
            <p:spPr>
              <a:xfrm>
                <a:off x="6552867" y="666825"/>
                <a:ext cx="2058000" cy="765900"/>
              </a:xfrm>
              <a:prstGeom prst="roundRect">
                <a:avLst>
                  <a:gd fmla="val 7272" name="adj"/>
                </a:avLst>
              </a:prstGeom>
              <a:solidFill>
                <a:srgbClr val="FCFCFC"/>
              </a:solidFill>
              <a:ln cap="flat" cmpd="sng" w="6575">
                <a:solidFill>
                  <a:srgbClr val="F4F4F5"/>
                </a:solidFill>
                <a:prstDash val="solid"/>
                <a:round/>
                <a:headEnd len="sm" w="sm" type="none"/>
                <a:tailEnd len="sm" w="sm" type="none"/>
              </a:ln>
            </p:spPr>
            <p:txBody>
              <a:bodyPr anchorCtr="0" anchor="ctr" bIns="31625" lIns="63225" spcFirstLastPara="1" rIns="63225" wrap="square" tIns="31625">
                <a:noAutofit/>
              </a:bodyPr>
              <a:lstStyle/>
              <a:p>
                <a:pPr indent="0" lvl="0" marL="0" marR="0" rtl="0" algn="ctr">
                  <a:spcBef>
                    <a:spcPts val="0"/>
                  </a:spcBef>
                  <a:spcAft>
                    <a:spcPts val="0"/>
                  </a:spcAft>
                  <a:buNone/>
                </a:pPr>
                <a:r>
                  <a:t/>
                </a:r>
                <a:endParaRPr b="0" i="0" sz="1415" u="none" cap="none" strike="noStrike">
                  <a:solidFill>
                    <a:srgbClr val="000000"/>
                  </a:solidFill>
                  <a:latin typeface="Calibri"/>
                  <a:ea typeface="Calibri"/>
                  <a:cs typeface="Calibri"/>
                  <a:sym typeface="Calibri"/>
                </a:endParaRPr>
              </a:p>
            </p:txBody>
          </p:sp>
          <p:sp>
            <p:nvSpPr>
              <p:cNvPr id="345" name="Google Shape;345;p23"/>
              <p:cNvSpPr txBox="1"/>
              <p:nvPr/>
            </p:nvSpPr>
            <p:spPr>
              <a:xfrm>
                <a:off x="6618202" y="764298"/>
                <a:ext cx="1963800" cy="21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641">
                    <a:solidFill>
                      <a:srgbClr val="09090B"/>
                    </a:solidFill>
                    <a:latin typeface="Inter"/>
                    <a:ea typeface="Inter"/>
                    <a:cs typeface="Inter"/>
                    <a:sym typeface="Inter"/>
                  </a:rPr>
                  <a:t>Average Daily Rate (ADR)</a:t>
                </a:r>
                <a:endParaRPr b="1" sz="641">
                  <a:solidFill>
                    <a:srgbClr val="09090B"/>
                  </a:solidFill>
                  <a:latin typeface="Inter"/>
                  <a:ea typeface="Inter"/>
                  <a:cs typeface="Inter"/>
                  <a:sym typeface="Inter"/>
                </a:endParaRPr>
              </a:p>
              <a:p>
                <a:pPr indent="0" lvl="0" marL="0" marR="0" rtl="0" algn="l">
                  <a:spcBef>
                    <a:spcPts val="0"/>
                  </a:spcBef>
                  <a:spcAft>
                    <a:spcPts val="0"/>
                  </a:spcAft>
                  <a:buNone/>
                </a:pPr>
                <a:r>
                  <a:t/>
                </a:r>
                <a:endParaRPr b="1" sz="641">
                  <a:solidFill>
                    <a:srgbClr val="09090B"/>
                  </a:solidFill>
                  <a:latin typeface="Inter"/>
                  <a:ea typeface="Inter"/>
                  <a:cs typeface="Inter"/>
                  <a:sym typeface="Inter"/>
                </a:endParaRPr>
              </a:p>
            </p:txBody>
          </p:sp>
          <p:sp>
            <p:nvSpPr>
              <p:cNvPr id="346" name="Google Shape;346;p23"/>
              <p:cNvSpPr txBox="1"/>
              <p:nvPr/>
            </p:nvSpPr>
            <p:spPr>
              <a:xfrm>
                <a:off x="6627334" y="975775"/>
                <a:ext cx="1945500" cy="145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881">
                    <a:solidFill>
                      <a:srgbClr val="334155"/>
                    </a:solidFill>
                    <a:latin typeface="Inter"/>
                    <a:ea typeface="Inter"/>
                    <a:cs typeface="Inter"/>
                    <a:sym typeface="Inter"/>
                  </a:rPr>
                  <a:t>June peak (186.8)</a:t>
                </a:r>
                <a:endParaRPr sz="881"/>
              </a:p>
            </p:txBody>
          </p:sp>
        </p:grpSp>
        <p:sp>
          <p:nvSpPr>
            <p:cNvPr id="347" name="Google Shape;347;p23"/>
            <p:cNvSpPr/>
            <p:nvPr/>
          </p:nvSpPr>
          <p:spPr>
            <a:xfrm>
              <a:off x="6780804" y="4357730"/>
              <a:ext cx="15600" cy="714300"/>
            </a:xfrm>
            <a:prstGeom prst="rect">
              <a:avLst/>
            </a:prstGeom>
            <a:solidFill>
              <a:srgbClr val="09090B"/>
            </a:solidFill>
            <a:ln>
              <a:noFill/>
            </a:ln>
          </p:spPr>
          <p:txBody>
            <a:bodyPr anchorCtr="0" anchor="ctr" bIns="31600" lIns="63225" spcFirstLastPara="1" rIns="63225" wrap="square" tIns="31600">
              <a:noAutofit/>
            </a:bodyPr>
            <a:lstStyle/>
            <a:p>
              <a:pPr indent="0" lvl="0" marL="0" marR="0" rtl="0" algn="ctr">
                <a:spcBef>
                  <a:spcPts val="0"/>
                </a:spcBef>
                <a:spcAft>
                  <a:spcPts val="0"/>
                </a:spcAft>
                <a:buNone/>
              </a:pPr>
              <a:r>
                <a:t/>
              </a:r>
              <a:endParaRPr b="0" i="0" sz="1245" u="none" cap="none" strike="noStrike">
                <a:solidFill>
                  <a:srgbClr val="000000"/>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1" name="Shape 351"/>
        <p:cNvGrpSpPr/>
        <p:nvPr/>
      </p:nvGrpSpPr>
      <p:grpSpPr>
        <a:xfrm>
          <a:off x="0" y="0"/>
          <a:ext cx="0" cy="0"/>
          <a:chOff x="0" y="0"/>
          <a:chExt cx="0" cy="0"/>
        </a:xfrm>
      </p:grpSpPr>
      <p:sp>
        <p:nvSpPr>
          <p:cNvPr id="352" name="Google Shape;352;p24"/>
          <p:cNvSpPr/>
          <p:nvPr/>
        </p:nvSpPr>
        <p:spPr>
          <a:xfrm>
            <a:off x="11229975" y="504825"/>
            <a:ext cx="342900" cy="247800"/>
          </a:xfrm>
          <a:prstGeom prst="roundRect">
            <a:avLst>
              <a:gd fmla="val 15384" name="adj"/>
            </a:avLst>
          </a:prstGeom>
          <a:solidFill>
            <a:srgbClr val="F4F4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24"/>
          <p:cNvSpPr/>
          <p:nvPr/>
        </p:nvSpPr>
        <p:spPr>
          <a:xfrm>
            <a:off x="619125" y="1775370"/>
            <a:ext cx="5419800" cy="1006500"/>
          </a:xfrm>
          <a:prstGeom prst="roundRect">
            <a:avLst>
              <a:gd fmla="val 7570"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rgbClr val="52525B"/>
              </a:solidFill>
              <a:latin typeface="Inter"/>
              <a:ea typeface="Inter"/>
              <a:cs typeface="Inter"/>
              <a:sym typeface="Inter"/>
            </a:endParaRPr>
          </a:p>
        </p:txBody>
      </p:sp>
      <p:sp>
        <p:nvSpPr>
          <p:cNvPr id="354" name="Google Shape;354;p24"/>
          <p:cNvSpPr/>
          <p:nvPr/>
        </p:nvSpPr>
        <p:spPr>
          <a:xfrm>
            <a:off x="6153150" y="1775370"/>
            <a:ext cx="5419800" cy="1006500"/>
          </a:xfrm>
          <a:prstGeom prst="roundRect">
            <a:avLst>
              <a:gd fmla="val 7570"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4"/>
          <p:cNvSpPr/>
          <p:nvPr/>
        </p:nvSpPr>
        <p:spPr>
          <a:xfrm>
            <a:off x="619125" y="2896195"/>
            <a:ext cx="5419800" cy="826500"/>
          </a:xfrm>
          <a:prstGeom prst="roundRect">
            <a:avLst>
              <a:gd fmla="val 9218"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6" name="Google Shape;356;p24"/>
          <p:cNvSpPr/>
          <p:nvPr/>
        </p:nvSpPr>
        <p:spPr>
          <a:xfrm>
            <a:off x="6153150" y="2896195"/>
            <a:ext cx="5419800" cy="826500"/>
          </a:xfrm>
          <a:prstGeom prst="roundRect">
            <a:avLst>
              <a:gd fmla="val 9218"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7" name="Google Shape;357;p24"/>
          <p:cNvSpPr/>
          <p:nvPr/>
        </p:nvSpPr>
        <p:spPr>
          <a:xfrm>
            <a:off x="619125" y="3837086"/>
            <a:ext cx="5419800" cy="826500"/>
          </a:xfrm>
          <a:prstGeom prst="roundRect">
            <a:avLst>
              <a:gd fmla="val 9218"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8" name="Google Shape;358;p24"/>
          <p:cNvSpPr/>
          <p:nvPr/>
        </p:nvSpPr>
        <p:spPr>
          <a:xfrm>
            <a:off x="6153150" y="3837086"/>
            <a:ext cx="5419800" cy="826500"/>
          </a:xfrm>
          <a:prstGeom prst="roundRect">
            <a:avLst>
              <a:gd fmla="val 9218"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24"/>
          <p:cNvSpPr/>
          <p:nvPr/>
        </p:nvSpPr>
        <p:spPr>
          <a:xfrm>
            <a:off x="619125" y="4777978"/>
            <a:ext cx="5419800" cy="826500"/>
          </a:xfrm>
          <a:prstGeom prst="roundRect">
            <a:avLst>
              <a:gd fmla="val 9218"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0" name="Google Shape;360;p24"/>
          <p:cNvSpPr/>
          <p:nvPr/>
        </p:nvSpPr>
        <p:spPr>
          <a:xfrm>
            <a:off x="6153150" y="4777978"/>
            <a:ext cx="5419800" cy="826500"/>
          </a:xfrm>
          <a:prstGeom prst="roundRect">
            <a:avLst>
              <a:gd fmla="val 9218" name="adj"/>
            </a:avLst>
          </a:prstGeom>
          <a:solidFill>
            <a:srgbClr val="FAFAFA"/>
          </a:solidFill>
          <a:ln cap="flat" cmpd="sng" w="9525">
            <a:solidFill>
              <a:srgbClr val="F4F4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24"/>
          <p:cNvSpPr txBox="1"/>
          <p:nvPr/>
        </p:nvSpPr>
        <p:spPr>
          <a:xfrm>
            <a:off x="11344275" y="542925"/>
            <a:ext cx="2097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1717A"/>
                </a:solidFill>
                <a:latin typeface="Space Grotesk"/>
                <a:ea typeface="Space Grotesk"/>
                <a:cs typeface="Space Grotesk"/>
                <a:sym typeface="Space Grotesk"/>
              </a:rPr>
              <a:t>1</a:t>
            </a:r>
            <a:r>
              <a:rPr b="1" lang="en-US" sz="1050">
                <a:solidFill>
                  <a:srgbClr val="71717A"/>
                </a:solidFill>
                <a:latin typeface="Space Grotesk"/>
                <a:ea typeface="Space Grotesk"/>
                <a:cs typeface="Space Grotesk"/>
                <a:sym typeface="Space Grotesk"/>
              </a:rPr>
              <a:t>2</a:t>
            </a:r>
            <a:endParaRPr/>
          </a:p>
        </p:txBody>
      </p:sp>
      <p:sp>
        <p:nvSpPr>
          <p:cNvPr id="362" name="Google Shape;362;p24"/>
          <p:cNvSpPr txBox="1"/>
          <p:nvPr/>
        </p:nvSpPr>
        <p:spPr>
          <a:xfrm>
            <a:off x="619125" y="723900"/>
            <a:ext cx="52428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400" u="none" cap="none" strike="noStrike">
                <a:solidFill>
                  <a:srgbClr val="09090B"/>
                </a:solidFill>
                <a:latin typeface="Space Grotesk"/>
                <a:ea typeface="Space Grotesk"/>
                <a:cs typeface="Space Grotesk"/>
                <a:sym typeface="Space Grotesk"/>
              </a:rPr>
              <a:t>Key Takeaways for Business</a:t>
            </a:r>
            <a:endParaRPr/>
          </a:p>
        </p:txBody>
      </p:sp>
      <p:sp>
        <p:nvSpPr>
          <p:cNvPr id="363" name="Google Shape;363;p24"/>
          <p:cNvSpPr txBox="1"/>
          <p:nvPr/>
        </p:nvSpPr>
        <p:spPr>
          <a:xfrm>
            <a:off x="781050" y="1899195"/>
            <a:ext cx="66882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2563EB"/>
                </a:solidFill>
                <a:latin typeface="Space Grotesk"/>
                <a:ea typeface="Space Grotesk"/>
                <a:cs typeface="Space Grotesk"/>
                <a:sym typeface="Space Grotesk"/>
              </a:rPr>
              <a:t>1. Neighbourhood</a:t>
            </a:r>
            <a:endParaRPr/>
          </a:p>
        </p:txBody>
      </p:sp>
      <p:sp>
        <p:nvSpPr>
          <p:cNvPr id="364" name="Google Shape;364;p24"/>
          <p:cNvSpPr txBox="1"/>
          <p:nvPr/>
        </p:nvSpPr>
        <p:spPr>
          <a:xfrm>
            <a:off x="781050" y="2118270"/>
            <a:ext cx="5191200" cy="387900"/>
          </a:xfrm>
          <a:prstGeom prst="rect">
            <a:avLst/>
          </a:prstGeom>
          <a:noFill/>
          <a:ln>
            <a:noFill/>
          </a:ln>
        </p:spPr>
        <p:txBody>
          <a:bodyPr anchorCtr="0" anchor="t" bIns="0" lIns="0" spcFirstLastPara="1" rIns="0" wrap="square" tIns="0">
            <a:spAutoFit/>
          </a:bodyPr>
          <a:lstStyle/>
          <a:p>
            <a:pPr indent="0" lvl="0" marL="0" rtl="0" algn="l">
              <a:lnSpc>
                <a:spcPct val="139925"/>
              </a:lnSpc>
              <a:spcBef>
                <a:spcPts val="0"/>
              </a:spcBef>
              <a:spcAft>
                <a:spcPts val="0"/>
              </a:spcAft>
              <a:buClr>
                <a:schemeClr val="dk1"/>
              </a:buClr>
              <a:buFont typeface="Arial"/>
              <a:buNone/>
            </a:pPr>
            <a:r>
              <a:rPr lang="en-US" sz="1050">
                <a:solidFill>
                  <a:srgbClr val="52525B"/>
                </a:solidFill>
                <a:latin typeface="Inter"/>
                <a:ea typeface="Inter"/>
                <a:cs typeface="Inter"/>
                <a:sym typeface="Inter"/>
              </a:rPr>
              <a:t>“Eixample” is the leader. Never go to “Nou Barris”!</a:t>
            </a:r>
            <a:endParaRPr sz="1050">
              <a:solidFill>
                <a:srgbClr val="52525B"/>
              </a:solidFill>
              <a:latin typeface="Inter"/>
              <a:ea typeface="Inter"/>
              <a:cs typeface="Inter"/>
              <a:sym typeface="Inter"/>
            </a:endParaRPr>
          </a:p>
          <a:p>
            <a:pPr indent="0" lvl="0" marL="0" marR="0" rtl="0" algn="l">
              <a:lnSpc>
                <a:spcPct val="134952"/>
              </a:lnSpc>
              <a:spcBef>
                <a:spcPts val="0"/>
              </a:spcBef>
              <a:spcAft>
                <a:spcPts val="0"/>
              </a:spcAft>
              <a:buNone/>
            </a:pPr>
            <a:r>
              <a:t/>
            </a:r>
            <a:endParaRPr sz="1050">
              <a:solidFill>
                <a:srgbClr val="52525B"/>
              </a:solidFill>
              <a:latin typeface="Inter"/>
              <a:ea typeface="Inter"/>
              <a:cs typeface="Inter"/>
              <a:sym typeface="Inter"/>
            </a:endParaRPr>
          </a:p>
        </p:txBody>
      </p:sp>
      <p:sp>
        <p:nvSpPr>
          <p:cNvPr id="365" name="Google Shape;365;p24"/>
          <p:cNvSpPr txBox="1"/>
          <p:nvPr/>
        </p:nvSpPr>
        <p:spPr>
          <a:xfrm>
            <a:off x="6315075" y="1899195"/>
            <a:ext cx="58770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2563EB"/>
                </a:solidFill>
                <a:latin typeface="Space Grotesk"/>
                <a:ea typeface="Space Grotesk"/>
                <a:cs typeface="Space Grotesk"/>
                <a:sym typeface="Space Grotesk"/>
              </a:rPr>
              <a:t>5. Weather vs. Occupancy</a:t>
            </a:r>
            <a:endParaRPr/>
          </a:p>
        </p:txBody>
      </p:sp>
      <p:sp>
        <p:nvSpPr>
          <p:cNvPr id="366" name="Google Shape;366;p24"/>
          <p:cNvSpPr txBox="1"/>
          <p:nvPr/>
        </p:nvSpPr>
        <p:spPr>
          <a:xfrm>
            <a:off x="6315075" y="2118270"/>
            <a:ext cx="5191200" cy="161700"/>
          </a:xfrm>
          <a:prstGeom prst="rect">
            <a:avLst/>
          </a:prstGeom>
          <a:noFill/>
          <a:ln>
            <a:noFill/>
          </a:ln>
        </p:spPr>
        <p:txBody>
          <a:bodyPr anchorCtr="0" anchor="t" bIns="0" lIns="0" spcFirstLastPara="1" rIns="0" wrap="square" tIns="0">
            <a:spAutoFit/>
          </a:bodyPr>
          <a:lstStyle/>
          <a:p>
            <a:pPr indent="0" lvl="0" marL="0" marR="0" rtl="0" algn="l">
              <a:lnSpc>
                <a:spcPct val="134952"/>
              </a:lnSpc>
              <a:spcBef>
                <a:spcPts val="0"/>
              </a:spcBef>
              <a:spcAft>
                <a:spcPts val="0"/>
              </a:spcAft>
              <a:buNone/>
            </a:pPr>
            <a:r>
              <a:rPr lang="en-US" sz="1050">
                <a:solidFill>
                  <a:srgbClr val="52525B"/>
                </a:solidFill>
                <a:latin typeface="Inter"/>
                <a:ea typeface="Inter"/>
                <a:cs typeface="Inter"/>
                <a:sym typeface="Inter"/>
              </a:rPr>
              <a:t>Prepare for higher occupancy in summer and lower demand in winter. </a:t>
            </a:r>
            <a:endParaRPr/>
          </a:p>
        </p:txBody>
      </p:sp>
      <p:sp>
        <p:nvSpPr>
          <p:cNvPr id="367" name="Google Shape;367;p24"/>
          <p:cNvSpPr txBox="1"/>
          <p:nvPr/>
        </p:nvSpPr>
        <p:spPr>
          <a:xfrm>
            <a:off x="781050" y="3020020"/>
            <a:ext cx="66882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2563EB"/>
                </a:solidFill>
                <a:latin typeface="Space Grotesk"/>
                <a:ea typeface="Space Grotesk"/>
                <a:cs typeface="Space Grotesk"/>
                <a:sym typeface="Space Grotesk"/>
              </a:rPr>
              <a:t>2. Avoid Transit Premiums</a:t>
            </a:r>
            <a:endParaRPr/>
          </a:p>
        </p:txBody>
      </p:sp>
      <p:sp>
        <p:nvSpPr>
          <p:cNvPr id="368" name="Google Shape;368;p24"/>
          <p:cNvSpPr txBox="1"/>
          <p:nvPr/>
        </p:nvSpPr>
        <p:spPr>
          <a:xfrm>
            <a:off x="781050" y="3239100"/>
            <a:ext cx="5080800" cy="533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1050">
                <a:solidFill>
                  <a:srgbClr val="52525B"/>
                </a:solidFill>
                <a:latin typeface="Inter"/>
                <a:ea typeface="Inter"/>
                <a:cs typeface="Inter"/>
                <a:sym typeface="Inter"/>
              </a:rPr>
              <a:t>No relationship between proximity to metro stations and financial performance. Avoid paying a premium for properties closer to metro stations!</a:t>
            </a:r>
            <a:endParaRPr sz="1050">
              <a:solidFill>
                <a:srgbClr val="52525B"/>
              </a:solidFill>
              <a:latin typeface="Inter"/>
              <a:ea typeface="Inter"/>
              <a:cs typeface="Inter"/>
              <a:sym typeface="Inter"/>
            </a:endParaRPr>
          </a:p>
          <a:p>
            <a:pPr indent="0" lvl="0" marL="0" marR="0" rtl="0" algn="l">
              <a:lnSpc>
                <a:spcPct val="134952"/>
              </a:lnSpc>
              <a:spcBef>
                <a:spcPts val="0"/>
              </a:spcBef>
              <a:spcAft>
                <a:spcPts val="0"/>
              </a:spcAft>
              <a:buNone/>
            </a:pPr>
            <a:r>
              <a:t/>
            </a:r>
            <a:endParaRPr sz="1050">
              <a:solidFill>
                <a:srgbClr val="52525B"/>
              </a:solidFill>
              <a:latin typeface="Inter"/>
              <a:ea typeface="Inter"/>
              <a:cs typeface="Inter"/>
              <a:sym typeface="Inter"/>
            </a:endParaRPr>
          </a:p>
        </p:txBody>
      </p:sp>
      <p:sp>
        <p:nvSpPr>
          <p:cNvPr id="369" name="Google Shape;369;p24"/>
          <p:cNvSpPr txBox="1"/>
          <p:nvPr/>
        </p:nvSpPr>
        <p:spPr>
          <a:xfrm>
            <a:off x="6315075" y="3020020"/>
            <a:ext cx="58770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2563EB"/>
                </a:solidFill>
                <a:latin typeface="Space Grotesk"/>
                <a:ea typeface="Space Grotesk"/>
                <a:cs typeface="Space Grotesk"/>
                <a:sym typeface="Space Grotesk"/>
              </a:rPr>
              <a:t>6. </a:t>
            </a:r>
            <a:r>
              <a:rPr b="1" lang="en-US" sz="1125">
                <a:solidFill>
                  <a:srgbClr val="2563EB"/>
                </a:solidFill>
                <a:latin typeface="Space Grotesk"/>
                <a:ea typeface="Space Grotesk"/>
                <a:cs typeface="Space Grotesk"/>
                <a:sym typeface="Space Grotesk"/>
              </a:rPr>
              <a:t>Use Weather To Support Forecasting </a:t>
            </a:r>
            <a:endParaRPr/>
          </a:p>
        </p:txBody>
      </p:sp>
      <p:sp>
        <p:nvSpPr>
          <p:cNvPr id="370" name="Google Shape;370;p24"/>
          <p:cNvSpPr txBox="1"/>
          <p:nvPr/>
        </p:nvSpPr>
        <p:spPr>
          <a:xfrm>
            <a:off x="6315075" y="3239095"/>
            <a:ext cx="5191200" cy="379800"/>
          </a:xfrm>
          <a:prstGeom prst="rect">
            <a:avLst/>
          </a:prstGeom>
          <a:noFill/>
          <a:ln>
            <a:noFill/>
          </a:ln>
        </p:spPr>
        <p:txBody>
          <a:bodyPr anchorCtr="0" anchor="t" bIns="0" lIns="0" spcFirstLastPara="1" rIns="0" wrap="square" tIns="0">
            <a:spAutoFit/>
          </a:bodyPr>
          <a:lstStyle/>
          <a:p>
            <a:pPr indent="0" lvl="0" marL="0" marR="0" rtl="0" algn="l">
              <a:lnSpc>
                <a:spcPct val="134952"/>
              </a:lnSpc>
              <a:spcBef>
                <a:spcPts val="0"/>
              </a:spcBef>
              <a:spcAft>
                <a:spcPts val="0"/>
              </a:spcAft>
              <a:buNone/>
            </a:pPr>
            <a:r>
              <a:rPr lang="en-US" sz="1050">
                <a:solidFill>
                  <a:srgbClr val="52525B"/>
                </a:solidFill>
                <a:latin typeface="Inter"/>
                <a:ea typeface="Inter"/>
                <a:cs typeface="Inter"/>
                <a:sym typeface="Inter"/>
              </a:rPr>
              <a:t>Temperature and sunshine can help anticipate changes in occupancy, but shouldn’t be treated as guarantees. </a:t>
            </a:r>
            <a:endParaRPr/>
          </a:p>
        </p:txBody>
      </p:sp>
      <p:sp>
        <p:nvSpPr>
          <p:cNvPr id="371" name="Google Shape;371;p24"/>
          <p:cNvSpPr txBox="1"/>
          <p:nvPr/>
        </p:nvSpPr>
        <p:spPr>
          <a:xfrm>
            <a:off x="781050" y="3960911"/>
            <a:ext cx="66882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2563EB"/>
                </a:solidFill>
                <a:latin typeface="Space Grotesk"/>
                <a:ea typeface="Space Grotesk"/>
                <a:cs typeface="Space Grotesk"/>
                <a:sym typeface="Space Grotesk"/>
              </a:rPr>
              <a:t>3. Ignore Micro POI Density</a:t>
            </a:r>
            <a:endParaRPr/>
          </a:p>
        </p:txBody>
      </p:sp>
      <p:sp>
        <p:nvSpPr>
          <p:cNvPr id="372" name="Google Shape;372;p24"/>
          <p:cNvSpPr txBox="1"/>
          <p:nvPr/>
        </p:nvSpPr>
        <p:spPr>
          <a:xfrm>
            <a:off x="781050" y="4179986"/>
            <a:ext cx="6369900" cy="161700"/>
          </a:xfrm>
          <a:prstGeom prst="rect">
            <a:avLst/>
          </a:prstGeom>
          <a:noFill/>
          <a:ln>
            <a:noFill/>
          </a:ln>
        </p:spPr>
        <p:txBody>
          <a:bodyPr anchorCtr="0" anchor="t" bIns="0" lIns="0" spcFirstLastPara="1" rIns="0" wrap="square" tIns="0">
            <a:spAutoFit/>
          </a:bodyPr>
          <a:lstStyle/>
          <a:p>
            <a:pPr indent="0" lvl="0" marL="0" marR="0" rtl="0" algn="l">
              <a:lnSpc>
                <a:spcPct val="134952"/>
              </a:lnSpc>
              <a:spcBef>
                <a:spcPts val="0"/>
              </a:spcBef>
              <a:spcAft>
                <a:spcPts val="0"/>
              </a:spcAft>
              <a:buNone/>
            </a:pPr>
            <a:r>
              <a:rPr b="0" i="0" lang="en-US" sz="1050" u="none" cap="none" strike="noStrike">
                <a:solidFill>
                  <a:srgbClr val="52525B"/>
                </a:solidFill>
                <a:latin typeface="Inter"/>
                <a:ea typeface="Inter"/>
                <a:cs typeface="Inter"/>
                <a:sym typeface="Inter"/>
              </a:rPr>
              <a:t>Attraction counts within 1 km do not yield pricing power (r ≈ 0.00–0.03).</a:t>
            </a:r>
            <a:endParaRPr/>
          </a:p>
        </p:txBody>
      </p:sp>
      <p:sp>
        <p:nvSpPr>
          <p:cNvPr id="373" name="Google Shape;373;p24"/>
          <p:cNvSpPr txBox="1"/>
          <p:nvPr/>
        </p:nvSpPr>
        <p:spPr>
          <a:xfrm>
            <a:off x="6315075" y="3960911"/>
            <a:ext cx="58770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2563EB"/>
                </a:solidFill>
                <a:latin typeface="Space Grotesk"/>
                <a:ea typeface="Space Grotesk"/>
                <a:cs typeface="Space Grotesk"/>
                <a:sym typeface="Space Grotesk"/>
              </a:rPr>
              <a:t>7. </a:t>
            </a:r>
            <a:r>
              <a:rPr b="1" lang="en-US" sz="1125">
                <a:solidFill>
                  <a:srgbClr val="2563EB"/>
                </a:solidFill>
                <a:latin typeface="Space Grotesk"/>
                <a:ea typeface="Space Grotesk"/>
                <a:cs typeface="Space Grotesk"/>
                <a:sym typeface="Space Grotesk"/>
              </a:rPr>
              <a:t>Adapt Pricing Throughout The Year </a:t>
            </a:r>
            <a:endParaRPr/>
          </a:p>
        </p:txBody>
      </p:sp>
      <p:sp>
        <p:nvSpPr>
          <p:cNvPr id="374" name="Google Shape;374;p24"/>
          <p:cNvSpPr txBox="1"/>
          <p:nvPr/>
        </p:nvSpPr>
        <p:spPr>
          <a:xfrm>
            <a:off x="6315075" y="4179986"/>
            <a:ext cx="5191200" cy="161700"/>
          </a:xfrm>
          <a:prstGeom prst="rect">
            <a:avLst/>
          </a:prstGeom>
          <a:noFill/>
          <a:ln>
            <a:noFill/>
          </a:ln>
        </p:spPr>
        <p:txBody>
          <a:bodyPr anchorCtr="0" anchor="t" bIns="0" lIns="0" spcFirstLastPara="1" rIns="0" wrap="square" tIns="0">
            <a:spAutoFit/>
          </a:bodyPr>
          <a:lstStyle/>
          <a:p>
            <a:pPr indent="0" lvl="0" marL="0" marR="0" rtl="0" algn="l">
              <a:lnSpc>
                <a:spcPct val="134952"/>
              </a:lnSpc>
              <a:spcBef>
                <a:spcPts val="0"/>
              </a:spcBef>
              <a:spcAft>
                <a:spcPts val="0"/>
              </a:spcAft>
              <a:buNone/>
            </a:pPr>
            <a:r>
              <a:rPr lang="en-US" sz="1050">
                <a:solidFill>
                  <a:srgbClr val="52525B"/>
                </a:solidFill>
                <a:latin typeface="Inter"/>
                <a:ea typeface="Inter"/>
                <a:cs typeface="Inter"/>
                <a:sym typeface="Inter"/>
              </a:rPr>
              <a:t>Review prices monthly rather than using one pricing strategy year-round. </a:t>
            </a:r>
            <a:endParaRPr/>
          </a:p>
        </p:txBody>
      </p:sp>
      <p:sp>
        <p:nvSpPr>
          <p:cNvPr id="375" name="Google Shape;375;p24"/>
          <p:cNvSpPr txBox="1"/>
          <p:nvPr/>
        </p:nvSpPr>
        <p:spPr>
          <a:xfrm>
            <a:off x="781050" y="4901803"/>
            <a:ext cx="66882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2563EB"/>
                </a:solidFill>
                <a:latin typeface="Space Grotesk"/>
                <a:ea typeface="Space Grotesk"/>
                <a:cs typeface="Space Grotesk"/>
                <a:sym typeface="Space Grotesk"/>
              </a:rPr>
              <a:t>4. Protect Rate &amp; Price Power</a:t>
            </a:r>
            <a:endParaRPr/>
          </a:p>
        </p:txBody>
      </p:sp>
      <p:sp>
        <p:nvSpPr>
          <p:cNvPr id="376" name="Google Shape;376;p24"/>
          <p:cNvSpPr txBox="1"/>
          <p:nvPr/>
        </p:nvSpPr>
        <p:spPr>
          <a:xfrm>
            <a:off x="781050" y="5120875"/>
            <a:ext cx="5191200" cy="533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1050">
                <a:solidFill>
                  <a:srgbClr val="52525B"/>
                </a:solidFill>
                <a:latin typeface="Inter"/>
                <a:ea typeface="Inter"/>
                <a:cs typeface="Inter"/>
                <a:sym typeface="Inter"/>
              </a:rPr>
              <a:t>Cheaper does not mean fuller. Protect your price and compete through quality,</a:t>
            </a:r>
            <a:br>
              <a:rPr lang="en-US" sz="1050">
                <a:solidFill>
                  <a:srgbClr val="52525B"/>
                </a:solidFill>
                <a:latin typeface="Inter"/>
                <a:ea typeface="Inter"/>
                <a:cs typeface="Inter"/>
                <a:sym typeface="Inter"/>
              </a:rPr>
            </a:br>
            <a:r>
              <a:rPr lang="en-US" sz="1050">
                <a:solidFill>
                  <a:srgbClr val="52525B"/>
                </a:solidFill>
                <a:latin typeface="Inter"/>
                <a:ea typeface="Inter"/>
                <a:cs typeface="Inter"/>
                <a:sym typeface="Inter"/>
              </a:rPr>
              <a:t>not discounts.</a:t>
            </a:r>
            <a:endParaRPr>
              <a:solidFill>
                <a:schemeClr val="dk1"/>
              </a:solidFill>
            </a:endParaRPr>
          </a:p>
          <a:p>
            <a:pPr indent="0" lvl="0" marL="0" marR="0" rtl="0" algn="l">
              <a:lnSpc>
                <a:spcPct val="134952"/>
              </a:lnSpc>
              <a:spcBef>
                <a:spcPts val="0"/>
              </a:spcBef>
              <a:spcAft>
                <a:spcPts val="0"/>
              </a:spcAft>
              <a:buNone/>
            </a:pPr>
            <a:r>
              <a:t/>
            </a:r>
            <a:endParaRPr sz="1050">
              <a:solidFill>
                <a:srgbClr val="52525B"/>
              </a:solidFill>
              <a:latin typeface="Inter"/>
              <a:ea typeface="Inter"/>
              <a:cs typeface="Inter"/>
              <a:sym typeface="Inter"/>
            </a:endParaRPr>
          </a:p>
        </p:txBody>
      </p:sp>
      <p:sp>
        <p:nvSpPr>
          <p:cNvPr id="377" name="Google Shape;377;p24"/>
          <p:cNvSpPr txBox="1"/>
          <p:nvPr/>
        </p:nvSpPr>
        <p:spPr>
          <a:xfrm>
            <a:off x="6315075" y="4901803"/>
            <a:ext cx="58770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2563EB"/>
                </a:solidFill>
                <a:latin typeface="Space Grotesk"/>
                <a:ea typeface="Space Grotesk"/>
                <a:cs typeface="Space Grotesk"/>
                <a:sym typeface="Space Grotesk"/>
              </a:rPr>
              <a:t>8. </a:t>
            </a:r>
            <a:r>
              <a:rPr b="1" lang="en-US" sz="1125">
                <a:solidFill>
                  <a:srgbClr val="2563EB"/>
                </a:solidFill>
                <a:latin typeface="Space Grotesk"/>
                <a:ea typeface="Space Grotesk"/>
                <a:cs typeface="Space Grotesk"/>
                <a:sym typeface="Space Grotesk"/>
              </a:rPr>
              <a:t>Focus On Revenue, Not Occupancy Alone </a:t>
            </a:r>
            <a:endParaRPr/>
          </a:p>
        </p:txBody>
      </p:sp>
      <p:sp>
        <p:nvSpPr>
          <p:cNvPr id="378" name="Google Shape;378;p24"/>
          <p:cNvSpPr txBox="1"/>
          <p:nvPr/>
        </p:nvSpPr>
        <p:spPr>
          <a:xfrm>
            <a:off x="6315075" y="5120878"/>
            <a:ext cx="5191200" cy="379800"/>
          </a:xfrm>
          <a:prstGeom prst="rect">
            <a:avLst/>
          </a:prstGeom>
          <a:noFill/>
          <a:ln>
            <a:noFill/>
          </a:ln>
        </p:spPr>
        <p:txBody>
          <a:bodyPr anchorCtr="0" anchor="t" bIns="0" lIns="0" spcFirstLastPara="1" rIns="0" wrap="square" tIns="0">
            <a:spAutoFit/>
          </a:bodyPr>
          <a:lstStyle/>
          <a:p>
            <a:pPr indent="0" lvl="0" marL="0" marR="0" rtl="0" algn="l">
              <a:lnSpc>
                <a:spcPct val="134952"/>
              </a:lnSpc>
              <a:spcBef>
                <a:spcPts val="0"/>
              </a:spcBef>
              <a:spcAft>
                <a:spcPts val="0"/>
              </a:spcAft>
              <a:buNone/>
            </a:pPr>
            <a:r>
              <a:rPr lang="en-US" sz="1050">
                <a:solidFill>
                  <a:srgbClr val="52525B"/>
                </a:solidFill>
                <a:latin typeface="Inter"/>
                <a:ea typeface="Inter"/>
                <a:cs typeface="Inter"/>
                <a:sym typeface="Inter"/>
              </a:rPr>
              <a:t>Monitor occupancy, ADR and RevPAR together to assess rental performance and pricing decisions.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 name="Shape 382"/>
        <p:cNvGrpSpPr/>
        <p:nvPr/>
      </p:nvGrpSpPr>
      <p:grpSpPr>
        <a:xfrm>
          <a:off x="0" y="0"/>
          <a:ext cx="0" cy="0"/>
          <a:chOff x="0" y="0"/>
          <a:chExt cx="0" cy="0"/>
        </a:xfrm>
      </p:grpSpPr>
      <p:sp>
        <p:nvSpPr>
          <p:cNvPr id="383" name="Google Shape;383;p25"/>
          <p:cNvSpPr txBox="1"/>
          <p:nvPr/>
        </p:nvSpPr>
        <p:spPr>
          <a:xfrm>
            <a:off x="150" y="367400"/>
            <a:ext cx="12192000" cy="4617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0000">
                <a:solidFill>
                  <a:srgbClr val="09090B"/>
                </a:solidFill>
                <a:latin typeface="Space Grotesk"/>
                <a:ea typeface="Space Grotesk"/>
                <a:cs typeface="Space Grotesk"/>
                <a:sym typeface="Space Grotesk"/>
              </a:rPr>
              <a:t>¡Chao!</a:t>
            </a:r>
            <a:endParaRPr sz="30000"/>
          </a:p>
        </p:txBody>
      </p:sp>
      <p:sp>
        <p:nvSpPr>
          <p:cNvPr id="384" name="Google Shape;384;p25"/>
          <p:cNvSpPr txBox="1"/>
          <p:nvPr/>
        </p:nvSpPr>
        <p:spPr>
          <a:xfrm>
            <a:off x="3333912" y="6354162"/>
            <a:ext cx="55245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71717A"/>
                </a:solidFill>
                <a:latin typeface="Inter"/>
                <a:ea typeface="Inter"/>
                <a:cs typeface="Inter"/>
                <a:sym typeface="Inter"/>
              </a:rPr>
              <a:t>Jovana Zivkovic &amp; Yurii Slobodchukov</a:t>
            </a:r>
            <a:endParaRPr sz="1100">
              <a:solidFill>
                <a:srgbClr val="71717A"/>
              </a:solidFill>
              <a:latin typeface="Inter"/>
              <a:ea typeface="Inter"/>
              <a:cs typeface="Inter"/>
              <a:sym typeface="Inter"/>
            </a:endParaRPr>
          </a:p>
        </p:txBody>
      </p:sp>
      <p:sp>
        <p:nvSpPr>
          <p:cNvPr id="385" name="Google Shape;385;p25"/>
          <p:cNvSpPr txBox="1"/>
          <p:nvPr/>
        </p:nvSpPr>
        <p:spPr>
          <a:xfrm>
            <a:off x="3333912" y="4800212"/>
            <a:ext cx="5524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999999"/>
                </a:solidFill>
                <a:latin typeface="Inter"/>
                <a:ea typeface="Inter"/>
                <a:cs typeface="Inter"/>
                <a:sym typeface="Inter"/>
              </a:rPr>
              <a:t>Thank you for listening! Questions?</a:t>
            </a:r>
            <a:endParaRPr sz="1200">
              <a:solidFill>
                <a:srgbClr val="999999"/>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